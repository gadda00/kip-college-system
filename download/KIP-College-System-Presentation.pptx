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3119829026-fhyv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1562" y="-1214437"/>
            <a:ext cx="4143375" cy="4143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1071562" y="-1214437"/>
            <a:ext cx="4143375" cy="414337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175022" y="175022"/>
            <a:ext cx="8793956" cy="4793456"/>
          </a:xfrm>
          <a:prstGeom prst="roundRect">
            <a:avLst>
              <a:gd name="adj" fmla="val 596"/>
            </a:avLst>
          </a:prstGeom>
          <a:noFill/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57213" y="528638"/>
            <a:ext cx="314325" cy="14288"/>
          </a:xfrm>
          <a:prstGeom prst="rect">
            <a:avLst/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985838" y="471488"/>
            <a:ext cx="76009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53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WEBSITE &amp; COLLEGE MANAGEMENT SYSTEM — PROJECT PROPOSAL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557213" y="1498402"/>
            <a:ext cx="8586788" cy="941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63"/>
              </a:lnSpc>
              <a:buNone/>
            </a:pPr>
            <a:r>
              <a:rPr lang="en-US" sz="6863" b="1" spc="103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KIP COLLEGE</a:t>
            </a:r>
            <a:endParaRPr lang="en-US" sz="686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2694980"/>
            <a:ext cx="457200" cy="14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7288" y="2541389"/>
            <a:ext cx="7429500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i="1" dirty="0">
                <a:solidFill>
                  <a:srgbClr val="4DA8D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Digital Transformation Proposal</a:t>
            </a:r>
            <a:endParaRPr lang="en-US" sz="1688" dirty="0"/>
          </a:p>
        </p:txBody>
      </p:sp>
      <p:sp>
        <p:nvSpPr>
          <p:cNvPr id="12" name="Text 6"/>
          <p:cNvSpPr/>
          <p:nvPr/>
        </p:nvSpPr>
        <p:spPr>
          <a:xfrm>
            <a:off x="557213" y="3077170"/>
            <a:ext cx="4714875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platform for three campuses: a modern public website, a self-service student portal, lecturer tools and a full administrative console — </a:t>
            </a:r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already built, live and demonstrated.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557213" y="4434183"/>
            <a:ext cx="1438015" cy="307781"/>
          </a:xfrm>
          <a:prstGeom prst="roundRect">
            <a:avLst>
              <a:gd name="adj" fmla="val 3091638"/>
            </a:avLst>
          </a:prstGeom>
          <a:solidFill>
            <a:srgbClr val="123A8A">
              <a:alpha val="50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50106" y="4532709"/>
            <a:ext cx="118798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Campus · Wikililye</a:t>
            </a:r>
            <a:endParaRPr lang="en-US" sz="731" dirty="0"/>
          </a:p>
        </p:txBody>
      </p:sp>
      <p:sp>
        <p:nvSpPr>
          <p:cNvPr id="15" name="Text 9"/>
          <p:cNvSpPr/>
          <p:nvPr/>
        </p:nvSpPr>
        <p:spPr>
          <a:xfrm>
            <a:off x="678656" y="45309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2080952" y="4434183"/>
            <a:ext cx="1484561" cy="307781"/>
          </a:xfrm>
          <a:prstGeom prst="roundRect">
            <a:avLst>
              <a:gd name="adj" fmla="val 3091638"/>
            </a:avLst>
          </a:prstGeom>
          <a:solidFill>
            <a:srgbClr val="123A8A">
              <a:alpha val="50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2373846" y="4532709"/>
            <a:ext cx="123452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Town Campus · Muli Mall</a:t>
            </a:r>
            <a:endParaRPr lang="en-US" sz="731" dirty="0"/>
          </a:p>
        </p:txBody>
      </p:sp>
      <p:sp>
        <p:nvSpPr>
          <p:cNvPr id="18" name="Text 12"/>
          <p:cNvSpPr/>
          <p:nvPr/>
        </p:nvSpPr>
        <p:spPr>
          <a:xfrm>
            <a:off x="2202396" y="45309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3654809" y="4450556"/>
            <a:ext cx="1867198" cy="275034"/>
          </a:xfrm>
          <a:prstGeom prst="roundRect">
            <a:avLst>
              <a:gd name="adj" fmla="val 3459745"/>
            </a:avLst>
          </a:prstGeom>
          <a:solidFill>
            <a:srgbClr val="123A8A">
              <a:alpha val="50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944131" y="4532709"/>
            <a:ext cx="1581448" cy="126609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Mwingi Campus · Sunrise Building</a:t>
            </a:r>
            <a:endParaRPr lang="en-US" sz="731" dirty="0"/>
          </a:p>
        </p:txBody>
      </p:sp>
      <p:sp>
        <p:nvSpPr>
          <p:cNvPr id="21" name="Text 15"/>
          <p:cNvSpPr/>
          <p:nvPr/>
        </p:nvSpPr>
        <p:spPr>
          <a:xfrm>
            <a:off x="3772681" y="45309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6816700" y="4518422"/>
            <a:ext cx="1911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34" kern="0" dirty="0">
                <a:solidFill>
                  <a:srgbClr val="C9D8EA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 · Ref KIP/WEB/2026/01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357312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357312"/>
            <a:ext cx="3857625" cy="3857625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4698"/>
            <a:ext cx="300038" cy="28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400050"/>
            <a:ext cx="78295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WE ARE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32222"/>
            <a:ext cx="8636000" cy="362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6"/>
              </a:lnSpc>
              <a:buNone/>
            </a:pPr>
            <a:r>
              <a:rPr lang="en-US" sz="2363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college with real scale — and real ambition.</a:t>
            </a:r>
            <a:endParaRPr lang="en-US" sz="2363" dirty="0"/>
          </a:p>
        </p:txBody>
      </p:sp>
      <p:sp>
        <p:nvSpPr>
          <p:cNvPr id="7" name="Text 3"/>
          <p:cNvSpPr/>
          <p:nvPr/>
        </p:nvSpPr>
        <p:spPr>
          <a:xfrm>
            <a:off x="460772" y="1186086"/>
            <a:ext cx="1943100" cy="1878806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971675" y="134682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998643" y="137378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77" dirty="0"/>
          </a:p>
        </p:txBody>
      </p:sp>
      <p:sp>
        <p:nvSpPr>
          <p:cNvPr id="10" name="Text 6"/>
          <p:cNvSpPr/>
          <p:nvPr/>
        </p:nvSpPr>
        <p:spPr>
          <a:xfrm>
            <a:off x="635794" y="1446833"/>
            <a:ext cx="1593056" cy="61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9"/>
              </a:lnSpc>
              <a:buNone/>
            </a:pPr>
            <a:r>
              <a:rPr lang="en-US" sz="4725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4725" dirty="0"/>
          </a:p>
        </p:txBody>
      </p:sp>
      <p:sp>
        <p:nvSpPr>
          <p:cNvPr id="11" name="Text 7"/>
          <p:cNvSpPr/>
          <p:nvPr/>
        </p:nvSpPr>
        <p:spPr>
          <a:xfrm>
            <a:off x="635794" y="2131182"/>
            <a:ext cx="168864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Campuses across Kitui County</a:t>
            </a:r>
            <a:endParaRPr lang="en-US" sz="844" dirty="0"/>
          </a:p>
        </p:txBody>
      </p:sp>
      <p:sp>
        <p:nvSpPr>
          <p:cNvPr id="12" name="Text 8"/>
          <p:cNvSpPr/>
          <p:nvPr/>
        </p:nvSpPr>
        <p:spPr>
          <a:xfrm>
            <a:off x="2553891" y="1186086"/>
            <a:ext cx="1943100" cy="1878806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064794" y="134682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91761" y="137378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77" dirty="0"/>
          </a:p>
        </p:txBody>
      </p:sp>
      <p:sp>
        <p:nvSpPr>
          <p:cNvPr id="15" name="Text 11"/>
          <p:cNvSpPr/>
          <p:nvPr/>
        </p:nvSpPr>
        <p:spPr>
          <a:xfrm>
            <a:off x="2728913" y="1446833"/>
            <a:ext cx="1593056" cy="61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9"/>
              </a:lnSpc>
              <a:buNone/>
            </a:pPr>
            <a:r>
              <a:rPr lang="en-US" sz="4725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4725" dirty="0"/>
          </a:p>
        </p:txBody>
      </p:sp>
      <p:sp>
        <p:nvSpPr>
          <p:cNvPr id="16" name="Text 12"/>
          <p:cNvSpPr/>
          <p:nvPr/>
        </p:nvSpPr>
        <p:spPr>
          <a:xfrm>
            <a:off x="2728913" y="2131182"/>
            <a:ext cx="1593056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programmes catalogued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4647009" y="1186086"/>
            <a:ext cx="1943100" cy="1878806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157913" y="134682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184880" y="137378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20" name="Text 16"/>
          <p:cNvSpPr/>
          <p:nvPr/>
        </p:nvSpPr>
        <p:spPr>
          <a:xfrm>
            <a:off x="4822031" y="1446833"/>
            <a:ext cx="1593056" cy="61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9"/>
              </a:lnSpc>
              <a:buNone/>
            </a:pPr>
            <a:r>
              <a:rPr lang="en-US" sz="4725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4725" dirty="0"/>
          </a:p>
        </p:txBody>
      </p:sp>
      <p:sp>
        <p:nvSpPr>
          <p:cNvPr id="21" name="Text 17"/>
          <p:cNvSpPr/>
          <p:nvPr/>
        </p:nvSpPr>
        <p:spPr>
          <a:xfrm>
            <a:off x="4822031" y="2131182"/>
            <a:ext cx="159305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Course streams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4822031" y="2324063"/>
            <a:ext cx="168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Technical, Business &amp; KASNEB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740128" y="1186086"/>
            <a:ext cx="1943100" cy="1878806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8251031" y="134682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8277999" y="137378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6" name="Text 22"/>
          <p:cNvSpPr/>
          <p:nvPr/>
        </p:nvSpPr>
        <p:spPr>
          <a:xfrm>
            <a:off x="6915150" y="1446833"/>
            <a:ext cx="1593056" cy="61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9"/>
              </a:lnSpc>
              <a:buNone/>
            </a:pPr>
            <a:r>
              <a:rPr lang="en-US" sz="4725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4725" dirty="0"/>
          </a:p>
        </p:txBody>
      </p:sp>
      <p:sp>
        <p:nvSpPr>
          <p:cNvPr id="27" name="Text 23"/>
          <p:cNvSpPr/>
          <p:nvPr/>
        </p:nvSpPr>
        <p:spPr>
          <a:xfrm>
            <a:off x="6915150" y="2131182"/>
            <a:ext cx="168864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National examination bodies</a:t>
            </a:r>
            <a:endParaRPr lang="en-US" sz="844" dirty="0"/>
          </a:p>
        </p:txBody>
      </p:sp>
      <p:sp>
        <p:nvSpPr>
          <p:cNvPr id="28" name="Text 24"/>
          <p:cNvSpPr/>
          <p:nvPr/>
        </p:nvSpPr>
        <p:spPr>
          <a:xfrm>
            <a:off x="6915150" y="2324063"/>
            <a:ext cx="15930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KNEC · CDACC · NITA · KASNEB</a:t>
            </a:r>
            <a:endParaRPr lang="en-US" sz="731" dirty="0"/>
          </a:p>
        </p:txBody>
      </p:sp>
      <p:sp>
        <p:nvSpPr>
          <p:cNvPr id="29" name="Text 25"/>
          <p:cNvSpPr/>
          <p:nvPr/>
        </p:nvSpPr>
        <p:spPr>
          <a:xfrm>
            <a:off x="460772" y="3257773"/>
            <a:ext cx="8222456" cy="792956"/>
          </a:xfrm>
          <a:prstGeom prst="roundRect">
            <a:avLst>
              <a:gd name="adj" fmla="val 16817"/>
            </a:avLst>
          </a:prstGeom>
          <a:solidFill>
            <a:srgbClr val="E4ECF5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35794" y="3497089"/>
            <a:ext cx="314325" cy="3143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B1F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79013" y="35403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547" dirty="0"/>
          </a:p>
        </p:txBody>
      </p:sp>
      <p:sp>
        <p:nvSpPr>
          <p:cNvPr id="32" name="Text 28"/>
          <p:cNvSpPr/>
          <p:nvPr/>
        </p:nvSpPr>
        <p:spPr>
          <a:xfrm>
            <a:off x="1064419" y="3479229"/>
            <a:ext cx="1206160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Campus</a:t>
            </a:r>
            <a:endParaRPr lang="en-US" sz="928" dirty="0"/>
          </a:p>
        </p:txBody>
      </p:sp>
      <p:sp>
        <p:nvSpPr>
          <p:cNvPr id="33" name="Text 29"/>
          <p:cNvSpPr/>
          <p:nvPr/>
        </p:nvSpPr>
        <p:spPr>
          <a:xfrm>
            <a:off x="1064419" y="3684612"/>
            <a:ext cx="11320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Wikililye, Mulango Road</a:t>
            </a:r>
            <a:endParaRPr lang="en-US" sz="759" dirty="0"/>
          </a:p>
        </p:txBody>
      </p:sp>
      <p:sp>
        <p:nvSpPr>
          <p:cNvPr id="34" name="Shape 30"/>
          <p:cNvSpPr/>
          <p:nvPr/>
        </p:nvSpPr>
        <p:spPr>
          <a:xfrm>
            <a:off x="3201628" y="3261345"/>
            <a:ext cx="0" cy="785813"/>
          </a:xfrm>
          <a:prstGeom prst="line">
            <a:avLst/>
          </a:prstGeom>
          <a:noFill/>
          <a:ln w="7144">
            <a:solidFill>
              <a:srgbClr val="0B1F3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76650" y="3497089"/>
            <a:ext cx="314325" cy="3143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B1F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419869" y="35403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547" dirty="0"/>
          </a:p>
        </p:txBody>
      </p:sp>
      <p:sp>
        <p:nvSpPr>
          <p:cNvPr id="37" name="Text 33"/>
          <p:cNvSpPr/>
          <p:nvPr/>
        </p:nvSpPr>
        <p:spPr>
          <a:xfrm>
            <a:off x="3805275" y="3479229"/>
            <a:ext cx="1455372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Town Campus</a:t>
            </a:r>
            <a:endParaRPr lang="en-US" sz="928" dirty="0"/>
          </a:p>
        </p:txBody>
      </p:sp>
      <p:sp>
        <p:nvSpPr>
          <p:cNvPr id="38" name="Text 34"/>
          <p:cNvSpPr/>
          <p:nvPr/>
        </p:nvSpPr>
        <p:spPr>
          <a:xfrm>
            <a:off x="3805275" y="3684612"/>
            <a:ext cx="13411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Muli Mall Building, Kitui Town</a:t>
            </a:r>
            <a:endParaRPr lang="en-US" sz="759" dirty="0"/>
          </a:p>
        </p:txBody>
      </p:sp>
      <p:sp>
        <p:nvSpPr>
          <p:cNvPr id="39" name="Shape 35"/>
          <p:cNvSpPr/>
          <p:nvPr/>
        </p:nvSpPr>
        <p:spPr>
          <a:xfrm>
            <a:off x="5942484" y="3261345"/>
            <a:ext cx="0" cy="785813"/>
          </a:xfrm>
          <a:prstGeom prst="line">
            <a:avLst/>
          </a:prstGeom>
          <a:noFill/>
          <a:ln w="7144">
            <a:solidFill>
              <a:srgbClr val="0B1F3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117506" y="3497089"/>
            <a:ext cx="314325" cy="3143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B1F3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160725" y="35403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547" dirty="0"/>
          </a:p>
        </p:txBody>
      </p:sp>
      <p:sp>
        <p:nvSpPr>
          <p:cNvPr id="42" name="Text 38"/>
          <p:cNvSpPr/>
          <p:nvPr/>
        </p:nvSpPr>
        <p:spPr>
          <a:xfrm>
            <a:off x="6546131" y="3479229"/>
            <a:ext cx="1231408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Mwingi Campus</a:t>
            </a:r>
            <a:endParaRPr lang="en-US" sz="928" dirty="0"/>
          </a:p>
        </p:txBody>
      </p:sp>
      <p:sp>
        <p:nvSpPr>
          <p:cNvPr id="43" name="Text 39"/>
          <p:cNvSpPr/>
          <p:nvPr/>
        </p:nvSpPr>
        <p:spPr>
          <a:xfrm>
            <a:off x="6546131" y="3684612"/>
            <a:ext cx="1155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Sunrise Building, Mwingi</a:t>
            </a:r>
            <a:endParaRPr lang="en-US" sz="759" dirty="0"/>
          </a:p>
        </p:txBody>
      </p:sp>
      <p:sp>
        <p:nvSpPr>
          <p:cNvPr id="44" name="Shape 40"/>
          <p:cNvSpPr/>
          <p:nvPr/>
        </p:nvSpPr>
        <p:spPr>
          <a:xfrm>
            <a:off x="457200" y="4496991"/>
            <a:ext cx="82296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657908" y="4643438"/>
            <a:ext cx="582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campus, course, fee structure and intake on one platform — the college’s complete academic identity, online.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5875" y="2857500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285875" y="2857500"/>
            <a:ext cx="3714750" cy="3714750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3525441" y="400050"/>
            <a:ext cx="0" cy="3829050"/>
          </a:xfrm>
          <a:prstGeom prst="line">
            <a:avLst/>
          </a:prstGeom>
          <a:noFill/>
          <a:ln w="7144">
            <a:solidFill>
              <a:srgbClr val="D9E4F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4698"/>
            <a:ext cx="300038" cy="285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400050"/>
            <a:ext cx="2407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46509"/>
            <a:ext cx="2807494" cy="101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great college deserves a greater digital presence.</a:t>
            </a:r>
            <a:endParaRPr lang="en-US" sz="2138" dirty="0"/>
          </a:p>
        </p:txBody>
      </p:sp>
      <p:sp>
        <p:nvSpPr>
          <p:cNvPr id="8" name="Shape 4"/>
          <p:cNvSpPr/>
          <p:nvPr/>
        </p:nvSpPr>
        <p:spPr>
          <a:xfrm>
            <a:off x="471488" y="1754237"/>
            <a:ext cx="0" cy="848320"/>
          </a:xfrm>
          <a:prstGeom prst="line">
            <a:avLst/>
          </a:prstGeom>
          <a:noFill/>
          <a:ln w="28575">
            <a:solidFill>
              <a:srgbClr val="1A4F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2800350"/>
            <a:ext cx="1400175" cy="1400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B1F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1757363" y="2757488"/>
            <a:ext cx="9144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B1F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928688" y="2571750"/>
            <a:ext cx="5286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B1F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3818334" y="403622"/>
            <a:ext cx="4864894" cy="621506"/>
          </a:xfrm>
          <a:prstGeom prst="roundRect">
            <a:avLst>
              <a:gd name="adj" fmla="val 2145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979069" y="550069"/>
            <a:ext cx="328613" cy="328613"/>
          </a:xfrm>
          <a:prstGeom prst="roundRect">
            <a:avLst>
              <a:gd name="adj" fmla="val 3188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24253" y="59525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617" dirty="0"/>
          </a:p>
        </p:txBody>
      </p:sp>
      <p:sp>
        <p:nvSpPr>
          <p:cNvPr id="15" name="Text 11"/>
          <p:cNvSpPr/>
          <p:nvPr/>
        </p:nvSpPr>
        <p:spPr>
          <a:xfrm>
            <a:off x="4421981" y="563575"/>
            <a:ext cx="22005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online admissions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21981" y="735025"/>
            <a:ext cx="2263461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Applicants must travel to campus for paper forms</a:t>
            </a:r>
            <a:endParaRPr lang="en-US" sz="759" dirty="0"/>
          </a:p>
        </p:txBody>
      </p:sp>
      <p:sp>
        <p:nvSpPr>
          <p:cNvPr id="17" name="Text 13"/>
          <p:cNvSpPr/>
          <p:nvPr/>
        </p:nvSpPr>
        <p:spPr>
          <a:xfrm>
            <a:off x="3818334" y="1203722"/>
            <a:ext cx="4864894" cy="621506"/>
          </a:xfrm>
          <a:prstGeom prst="roundRect">
            <a:avLst>
              <a:gd name="adj" fmla="val 2145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979069" y="1350169"/>
            <a:ext cx="328613" cy="328613"/>
          </a:xfrm>
          <a:prstGeom prst="roundRect">
            <a:avLst>
              <a:gd name="adj" fmla="val 3188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024253" y="139535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17" dirty="0"/>
          </a:p>
        </p:txBody>
      </p:sp>
      <p:sp>
        <p:nvSpPr>
          <p:cNvPr id="20" name="Text 16"/>
          <p:cNvSpPr/>
          <p:nvPr/>
        </p:nvSpPr>
        <p:spPr>
          <a:xfrm>
            <a:off x="4421981" y="1363675"/>
            <a:ext cx="227969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fee tracking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21981" y="1535125"/>
            <a:ext cx="2171142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live in spreadsheets, invisible to students</a:t>
            </a:r>
            <a:endParaRPr lang="en-US" sz="759" dirty="0"/>
          </a:p>
        </p:txBody>
      </p:sp>
      <p:sp>
        <p:nvSpPr>
          <p:cNvPr id="22" name="Text 18"/>
          <p:cNvSpPr/>
          <p:nvPr/>
        </p:nvSpPr>
        <p:spPr>
          <a:xfrm>
            <a:off x="3818334" y="2003822"/>
            <a:ext cx="4864894" cy="621506"/>
          </a:xfrm>
          <a:prstGeom prst="roundRect">
            <a:avLst>
              <a:gd name="adj" fmla="val 2145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979069" y="2150269"/>
            <a:ext cx="328613" cy="328613"/>
          </a:xfrm>
          <a:prstGeom prst="roundRect">
            <a:avLst>
              <a:gd name="adj" fmla="val 3188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024253" y="219545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25" name="Text 21"/>
          <p:cNvSpPr/>
          <p:nvPr/>
        </p:nvSpPr>
        <p:spPr>
          <a:xfrm>
            <a:off x="4421981" y="2163775"/>
            <a:ext cx="27806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Hand-made documents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421981" y="2335225"/>
            <a:ext cx="2648210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 statements, transcripts and ID cards produced on request</a:t>
            </a:r>
            <a:endParaRPr lang="en-US" sz="759" dirty="0"/>
          </a:p>
        </p:txBody>
      </p:sp>
      <p:sp>
        <p:nvSpPr>
          <p:cNvPr id="27" name="Text 23"/>
          <p:cNvSpPr/>
          <p:nvPr/>
        </p:nvSpPr>
        <p:spPr>
          <a:xfrm>
            <a:off x="3818334" y="2803922"/>
            <a:ext cx="4864894" cy="621506"/>
          </a:xfrm>
          <a:prstGeom prst="roundRect">
            <a:avLst>
              <a:gd name="adj" fmla="val 2145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979069" y="2950369"/>
            <a:ext cx="328613" cy="328613"/>
          </a:xfrm>
          <a:prstGeom prst="roundRect">
            <a:avLst>
              <a:gd name="adj" fmla="val 3188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024253" y="299555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17" dirty="0"/>
          </a:p>
        </p:txBody>
      </p:sp>
      <p:sp>
        <p:nvSpPr>
          <p:cNvPr id="30" name="Text 26"/>
          <p:cNvSpPr/>
          <p:nvPr/>
        </p:nvSpPr>
        <p:spPr>
          <a:xfrm>
            <a:off x="4421981" y="2963875"/>
            <a:ext cx="1930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central records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421981" y="3135325"/>
            <a:ext cx="1985954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data fragmented across campuses</a:t>
            </a:r>
            <a:endParaRPr lang="en-US" sz="759" dirty="0"/>
          </a:p>
        </p:txBody>
      </p:sp>
      <p:sp>
        <p:nvSpPr>
          <p:cNvPr id="32" name="Text 28"/>
          <p:cNvSpPr/>
          <p:nvPr/>
        </p:nvSpPr>
        <p:spPr>
          <a:xfrm>
            <a:off x="3818334" y="3604022"/>
            <a:ext cx="4864894" cy="621506"/>
          </a:xfrm>
          <a:prstGeom prst="roundRect">
            <a:avLst>
              <a:gd name="adj" fmla="val 2145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979069" y="3750469"/>
            <a:ext cx="328613" cy="328613"/>
          </a:xfrm>
          <a:prstGeom prst="roundRect">
            <a:avLst>
              <a:gd name="adj" fmla="val 3188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024253" y="379565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17" dirty="0"/>
          </a:p>
        </p:txBody>
      </p:sp>
      <p:sp>
        <p:nvSpPr>
          <p:cNvPr id="35" name="Text 31"/>
          <p:cNvSpPr/>
          <p:nvPr/>
        </p:nvSpPr>
        <p:spPr>
          <a:xfrm>
            <a:off x="4421981" y="3763975"/>
            <a:ext cx="171965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Fragmented communication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421981" y="3935425"/>
            <a:ext cx="1719657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Announcements rely on noticeboards</a:t>
            </a:r>
            <a:endParaRPr lang="en-US" sz="759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00550"/>
            <a:ext cx="8229600" cy="41433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2309999" y="453270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7CC4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39" name="Text 34"/>
          <p:cNvSpPr/>
          <p:nvPr/>
        </p:nvSpPr>
        <p:spPr>
          <a:xfrm>
            <a:off x="2545742" y="4519315"/>
            <a:ext cx="6141058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one of these gaps is closed by the proposed platform — on day one.</a:t>
            </a:r>
            <a:endParaRPr lang="en-US" sz="928" dirty="0"/>
          </a:p>
        </p:txBody>
      </p:sp>
      <p:sp>
        <p:nvSpPr>
          <p:cNvPr id="40" name="Text 35"/>
          <p:cNvSpPr/>
          <p:nvPr/>
        </p:nvSpPr>
        <p:spPr>
          <a:xfrm>
            <a:off x="642938" y="1754237"/>
            <a:ext cx="2621756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928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current website is </a:t>
            </a:r>
            <a:pPr algn="l" indent="0" marL="0">
              <a:lnSpc>
                <a:spcPts val="1671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static brochure</a:t>
            </a:r>
            <a:pPr algn="l" indent="0" marL="0">
              <a:lnSpc>
                <a:spcPts val="1671"/>
              </a:lnSpc>
              <a:buNone/>
            </a:pPr>
            <a:r>
              <a:rPr lang="en-US" sz="928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It lists courses, but it cannot serve students, process applications, or support staff. Meanwhile operations run on </a:t>
            </a:r>
            <a:pPr algn="l" indent="0" marL="0">
              <a:lnSpc>
                <a:spcPts val="1671"/>
              </a:lnSpc>
              <a:buNone/>
            </a:pPr>
            <a:r>
              <a:rPr lang="en-US" sz="928" b="1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paper and spreadsheets</a:t>
            </a:r>
            <a:pPr algn="l" indent="0" marL="0">
              <a:lnSpc>
                <a:spcPts val="1671"/>
              </a:lnSpc>
              <a:buNone/>
            </a:pPr>
            <a:r>
              <a:rPr lang="en-US" sz="928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2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357312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357312"/>
            <a:ext cx="3857625" cy="3857625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123"/>
            <a:ext cx="300038" cy="28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371475"/>
            <a:ext cx="78295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589359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platform. Four experiences. Every stakeholder served.</a:t>
            </a:r>
            <a:endParaRPr lang="en-US" sz="202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3637"/>
            <a:ext cx="4043363" cy="17969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0772" y="1067209"/>
            <a:ext cx="4036219" cy="1789844"/>
          </a:xfrm>
          <a:prstGeom prst="rect">
            <a:avLst/>
          </a:prstGeom>
          <a:noFill/>
          <a:ln w="7144">
            <a:solidFill>
              <a:srgbClr val="4DA8DA"/>
            </a:solidFill>
            <a:prstDash val="solid"/>
          </a:ln>
          <a:effectLst>
            <a:outerShdw sx="100000" sy="100000" kx="0" ky="0" algn="bl" rotWithShape="0" blurRad="323850" dist="133350" dir="5400000">
              <a:srgbClr val="0B1F3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2821112" y="1231516"/>
            <a:ext cx="1497285" cy="216098"/>
          </a:xfrm>
          <a:prstGeom prst="roundRect">
            <a:avLst>
              <a:gd name="adj" fmla="val 4403315"/>
            </a:avLst>
          </a:prstGeom>
          <a:solidFill>
            <a:srgbClr val="4DA8DA">
              <a:alpha val="15000"/>
            </a:srgbClr>
          </a:solidFill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053283" y="1292237"/>
            <a:ext cx="1175817" cy="114499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spc="17" kern="0" dirty="0">
                <a:solidFill>
                  <a:srgbClr val="CFE6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front door of the college</a:t>
            </a:r>
            <a:endParaRPr lang="en-US" sz="647" dirty="0"/>
          </a:p>
        </p:txBody>
      </p:sp>
      <p:sp>
        <p:nvSpPr>
          <p:cNvPr id="11" name="Text 6"/>
          <p:cNvSpPr/>
          <p:nvPr/>
        </p:nvSpPr>
        <p:spPr>
          <a:xfrm>
            <a:off x="2910408" y="128955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2" name="Text 7"/>
          <p:cNvSpPr/>
          <p:nvPr/>
        </p:nvSpPr>
        <p:spPr>
          <a:xfrm>
            <a:off x="650081" y="1242231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4DA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90086" y="128223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4" name="Text 9"/>
          <p:cNvSpPr/>
          <p:nvPr/>
        </p:nvSpPr>
        <p:spPr>
          <a:xfrm>
            <a:off x="1092994" y="1242231"/>
            <a:ext cx="1506522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Public Website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1092994" y="1450739"/>
            <a:ext cx="1388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Prospective students &amp; parents</a:t>
            </a:r>
            <a:endParaRPr lang="en-US" sz="731" dirty="0"/>
          </a:p>
        </p:txBody>
      </p:sp>
      <p:sp>
        <p:nvSpPr>
          <p:cNvPr id="16" name="Text 11"/>
          <p:cNvSpPr/>
          <p:nvPr/>
        </p:nvSpPr>
        <p:spPr>
          <a:xfrm>
            <a:off x="650081" y="1704342"/>
            <a:ext cx="3657600" cy="7144"/>
          </a:xfrm>
          <a:prstGeom prst="rect">
            <a:avLst/>
          </a:prstGeom>
          <a:solidFill>
            <a:srgbClr val="4DA8DA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50081" y="1811499"/>
            <a:ext cx="3657600" cy="97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DCE8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✓Course catalogue with full fees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DCE8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✓Online admissions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DCE8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✓News, events, downloads, FAQ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DCE8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✓24/7 AI assistant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647009" y="1067209"/>
            <a:ext cx="4036219" cy="1789844"/>
          </a:xfrm>
          <a:prstGeom prst="roundRect">
            <a:avLst>
              <a:gd name="adj" fmla="val 745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856748" y="1242231"/>
            <a:ext cx="663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4A68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36319" y="1242231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876324" y="128223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688" dirty="0"/>
          </a:p>
        </p:txBody>
      </p:sp>
      <p:sp>
        <p:nvSpPr>
          <p:cNvPr id="22" name="Text 17"/>
          <p:cNvSpPr/>
          <p:nvPr/>
        </p:nvSpPr>
        <p:spPr>
          <a:xfrm>
            <a:off x="5279231" y="1242231"/>
            <a:ext cx="1151215" cy="1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Portal</a:t>
            </a:r>
            <a:endParaRPr lang="en-US" sz="1238" dirty="0"/>
          </a:p>
        </p:txBody>
      </p:sp>
      <p:sp>
        <p:nvSpPr>
          <p:cNvPr id="23" name="Text 18"/>
          <p:cNvSpPr/>
          <p:nvPr/>
        </p:nvSpPr>
        <p:spPr>
          <a:xfrm>
            <a:off x="5279231" y="1450739"/>
            <a:ext cx="1190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students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836319" y="1704342"/>
            <a:ext cx="3657600" cy="7144"/>
          </a:xfrm>
          <a:prstGeom prst="rect">
            <a:avLst/>
          </a:prstGeom>
          <a:solidFill>
            <a:srgbClr val="DBE6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36319" y="1811499"/>
            <a:ext cx="3657600" cy="97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✓Dashboard &amp; timetable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✓M-PESA fee payments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✓Printable statements, transcripts, ID card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✓AI Study Buddy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60772" y="3007072"/>
            <a:ext cx="4036219" cy="1789956"/>
          </a:xfrm>
          <a:prstGeom prst="roundRect">
            <a:avLst>
              <a:gd name="adj" fmla="val 745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670511" y="3182094"/>
            <a:ext cx="663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4A68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03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0081" y="3182094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90086" y="322209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0" name="Text 25"/>
          <p:cNvSpPr/>
          <p:nvPr/>
        </p:nvSpPr>
        <p:spPr>
          <a:xfrm>
            <a:off x="1092994" y="3182094"/>
            <a:ext cx="1443813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Lecturer Workspace</a:t>
            </a:r>
            <a:endParaRPr lang="en-US" sz="1238" dirty="0"/>
          </a:p>
        </p:txBody>
      </p:sp>
      <p:sp>
        <p:nvSpPr>
          <p:cNvPr id="31" name="Text 26"/>
          <p:cNvSpPr/>
          <p:nvPr/>
        </p:nvSpPr>
        <p:spPr>
          <a:xfrm>
            <a:off x="1092994" y="3390602"/>
            <a:ext cx="16665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Teaching staff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50081" y="3644205"/>
            <a:ext cx="3657600" cy="7144"/>
          </a:xfrm>
          <a:prstGeom prst="rect">
            <a:avLst/>
          </a:prstGeom>
          <a:solidFill>
            <a:srgbClr val="DBE6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50081" y="3751362"/>
            <a:ext cx="3657600" cy="72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✓Class rosters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✓Guided marks entry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✓Class analytics with grade distributions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647009" y="3007072"/>
            <a:ext cx="4036219" cy="1789956"/>
          </a:xfrm>
          <a:prstGeom prst="roundRect">
            <a:avLst>
              <a:gd name="adj" fmla="val 745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7856748" y="3182094"/>
            <a:ext cx="663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4A68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04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836319" y="3182094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876324" y="322209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8" name="Text 33"/>
          <p:cNvSpPr/>
          <p:nvPr/>
        </p:nvSpPr>
        <p:spPr>
          <a:xfrm>
            <a:off x="5279231" y="3182094"/>
            <a:ext cx="1615364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Admin Console</a:t>
            </a:r>
            <a:endParaRPr lang="en-US" sz="1238" dirty="0"/>
          </a:p>
        </p:txBody>
      </p:sp>
      <p:sp>
        <p:nvSpPr>
          <p:cNvPr id="39" name="Text 34"/>
          <p:cNvSpPr/>
          <p:nvPr/>
        </p:nvSpPr>
        <p:spPr>
          <a:xfrm>
            <a:off x="5279231" y="3390602"/>
            <a:ext cx="14885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Registrar, finance &amp; management</a:t>
            </a:r>
            <a:endParaRPr lang="en-US" sz="731" dirty="0"/>
          </a:p>
        </p:txBody>
      </p:sp>
      <p:sp>
        <p:nvSpPr>
          <p:cNvPr id="40" name="Text 35"/>
          <p:cNvSpPr/>
          <p:nvPr/>
        </p:nvSpPr>
        <p:spPr>
          <a:xfrm>
            <a:off x="4836319" y="3644205"/>
            <a:ext cx="3657600" cy="7144"/>
          </a:xfrm>
          <a:prstGeom prst="rect">
            <a:avLst/>
          </a:prstGeom>
          <a:solidFill>
            <a:srgbClr val="DBE6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836319" y="3751362"/>
            <a:ext cx="3657600" cy="97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✓Live analytics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✓Admissions workflow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✓Payments ledger</a:t>
            </a:r>
            <a:endParaRPr lang="en-US" sz="800" dirty="0"/>
          </a:p>
          <a:p>
            <a:pPr algn="l" marL="342900" indent="-342900">
              <a:lnSpc>
                <a:spcPts val="1142"/>
              </a:lnSpc>
              <a:spcAft>
                <a:spcPts val="675"/>
              </a:spcAft>
              <a:buSzPct val="100000"/>
              <a:buChar char="•"/>
            </a:pPr>
            <a:r>
              <a:rPr lang="en-US" sz="8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✓Announcements &amp; CSV exports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2714625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0" y="2714625"/>
            <a:ext cx="3714750" cy="3714750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123"/>
            <a:ext cx="300038" cy="28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371475"/>
            <a:ext cx="78295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01 — PUBLIC WEBSITE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589359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front door that converts visitors into applicants.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457200" y="1700771"/>
            <a:ext cx="3186113" cy="0"/>
          </a:xfrm>
          <a:prstGeom prst="line">
            <a:avLst/>
          </a:prstGeom>
          <a:noFill/>
          <a:ln w="7144">
            <a:solidFill>
              <a:srgbClr val="DDE7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175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" name="Text 5"/>
          <p:cNvSpPr/>
          <p:nvPr/>
        </p:nvSpPr>
        <p:spPr>
          <a:xfrm>
            <a:off x="685800" y="1222921"/>
            <a:ext cx="295751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Hero invitation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Choose a path that matches your ambition</a:t>
            </a:r>
            <a:endParaRPr lang="en-US" sz="872" dirty="0"/>
          </a:p>
        </p:txBody>
      </p:sp>
      <p:sp>
        <p:nvSpPr>
          <p:cNvPr id="10" name="Shape 6"/>
          <p:cNvSpPr/>
          <p:nvPr/>
        </p:nvSpPr>
        <p:spPr>
          <a:xfrm>
            <a:off x="457200" y="2324286"/>
            <a:ext cx="3186113" cy="0"/>
          </a:xfrm>
          <a:prstGeom prst="line">
            <a:avLst/>
          </a:prstGeom>
          <a:noFill/>
          <a:ln w="7144">
            <a:solidFill>
              <a:srgbClr val="DDE7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19410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8"/>
          <p:cNvSpPr/>
          <p:nvPr/>
        </p:nvSpPr>
        <p:spPr>
          <a:xfrm>
            <a:off x="685800" y="1846436"/>
            <a:ext cx="295751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28 programmes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tuition, registration &amp; exam fees per term</a:t>
            </a:r>
            <a:endParaRPr lang="en-US" sz="872" dirty="0"/>
          </a:p>
        </p:txBody>
      </p:sp>
      <p:sp>
        <p:nvSpPr>
          <p:cNvPr id="13" name="Shape 9"/>
          <p:cNvSpPr/>
          <p:nvPr/>
        </p:nvSpPr>
        <p:spPr>
          <a:xfrm>
            <a:off x="457200" y="2947801"/>
            <a:ext cx="3186113" cy="0"/>
          </a:xfrm>
          <a:prstGeom prst="line">
            <a:avLst/>
          </a:prstGeom>
          <a:noFill/>
          <a:ln w="7144">
            <a:solidFill>
              <a:srgbClr val="DDE7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25646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1"/>
          <p:cNvSpPr/>
          <p:nvPr/>
        </p:nvSpPr>
        <p:spPr>
          <a:xfrm>
            <a:off x="685800" y="2552998"/>
            <a:ext cx="29575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Filtering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Technical, Business &amp; KASNEB streams</a:t>
            </a:r>
            <a:endParaRPr lang="en-US" sz="872" dirty="0"/>
          </a:p>
        </p:txBody>
      </p:sp>
      <p:sp>
        <p:nvSpPr>
          <p:cNvPr id="16" name="Shape 12"/>
          <p:cNvSpPr/>
          <p:nvPr/>
        </p:nvSpPr>
        <p:spPr>
          <a:xfrm>
            <a:off x="457200" y="3571317"/>
            <a:ext cx="3186113" cy="0"/>
          </a:xfrm>
          <a:prstGeom prst="line">
            <a:avLst/>
          </a:prstGeom>
          <a:noFill/>
          <a:ln w="7144">
            <a:solidFill>
              <a:srgbClr val="DDE7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31881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8" name="Text 14"/>
          <p:cNvSpPr/>
          <p:nvPr/>
        </p:nvSpPr>
        <p:spPr>
          <a:xfrm>
            <a:off x="685800" y="3093467"/>
            <a:ext cx="295751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 admissions form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feeding straight into the admin console</a:t>
            </a:r>
            <a:endParaRPr lang="en-US" sz="872" dirty="0"/>
          </a:p>
        </p:txBody>
      </p:sp>
      <p:sp>
        <p:nvSpPr>
          <p:cNvPr id="19" name="Shape 15"/>
          <p:cNvSpPr/>
          <p:nvPr/>
        </p:nvSpPr>
        <p:spPr>
          <a:xfrm>
            <a:off x="457200" y="4194832"/>
            <a:ext cx="3186113" cy="0"/>
          </a:xfrm>
          <a:prstGeom prst="line">
            <a:avLst/>
          </a:prstGeom>
          <a:noFill/>
          <a:ln w="7144">
            <a:solidFill>
              <a:srgbClr val="DDE7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81163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1" name="Text 17"/>
          <p:cNvSpPr/>
          <p:nvPr/>
        </p:nvSpPr>
        <p:spPr>
          <a:xfrm>
            <a:off x="685800" y="3800029"/>
            <a:ext cx="29575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Accreditation strip: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KNEC, CDACC, NITA, KASNEB</a:t>
            </a:r>
            <a:endParaRPr lang="en-US" sz="872" dirty="0"/>
          </a:p>
        </p:txBody>
      </p:sp>
      <p:sp>
        <p:nvSpPr>
          <p:cNvPr id="22" name="Text 18"/>
          <p:cNvSpPr/>
          <p:nvPr/>
        </p:nvSpPr>
        <p:spPr>
          <a:xfrm>
            <a:off x="457200" y="44351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3" name="Text 19"/>
          <p:cNvSpPr/>
          <p:nvPr/>
        </p:nvSpPr>
        <p:spPr>
          <a:xfrm>
            <a:off x="685800" y="4340498"/>
            <a:ext cx="295751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News &amp; events,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downloadable resources, FAQ and contact pages</a:t>
            </a:r>
            <a:endParaRPr lang="en-US" sz="872" dirty="0"/>
          </a:p>
        </p:txBody>
      </p:sp>
      <p:sp>
        <p:nvSpPr>
          <p:cNvPr id="24" name="Text 20"/>
          <p:cNvSpPr/>
          <p:nvPr/>
        </p:nvSpPr>
        <p:spPr>
          <a:xfrm>
            <a:off x="3861197" y="1191332"/>
            <a:ext cx="4822031" cy="3287911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323850" dist="95250" dir="5400000">
              <a:srgbClr val="0B1F3F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864769" y="1194904"/>
            <a:ext cx="4814888" cy="271463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3864769" y="1462794"/>
            <a:ext cx="481488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64781" y="1291344"/>
            <a:ext cx="71438" cy="71438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079081" y="1291344"/>
            <a:ext cx="71438" cy="71438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193381" y="1291344"/>
            <a:ext cx="71438" cy="71438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350544" y="1262769"/>
            <a:ext cx="3861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KIP College — Public Website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254938" y="1298488"/>
            <a:ext cx="57150" cy="57150"/>
          </a:xfrm>
          <a:prstGeom prst="roundRect">
            <a:avLst>
              <a:gd name="adj" fmla="val 66667"/>
            </a:avLst>
          </a:prstGeom>
          <a:solidFill>
            <a:srgbClr val="1A4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250850" y="1268127"/>
            <a:ext cx="332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4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33" name="Image 2" descr="/home/z/my-project/screenshots/proposal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769" y="1466366"/>
            <a:ext cx="4814888" cy="300930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69111" y="458461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5" name="Text 30"/>
          <p:cNvSpPr/>
          <p:nvPr/>
        </p:nvSpPr>
        <p:spPr>
          <a:xfrm>
            <a:off x="5726274" y="4568540"/>
            <a:ext cx="29605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68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system — not a mock-up.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25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02 — STUDENT PORTAL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Everything a student needs, on one sign-in.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5102"/>
            <a:ext cx="400050" cy="35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72" y="1460116"/>
            <a:ext cx="4250531" cy="3161109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323850" dist="95250" dir="5400000">
              <a:srgbClr val="0B1F3F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344" y="1463687"/>
            <a:ext cx="4243388" cy="22860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64344" y="1688716"/>
            <a:ext cx="424338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4356" y="154226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54226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8669" y="154226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61582" y="1549412"/>
            <a:ext cx="50006" cy="50006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61582" y="1515480"/>
            <a:ext cx="3461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13" name="Image 1" descr="/tmp/h2p-fit-1793119828495-zy6ro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1692287"/>
            <a:ext cx="4243388" cy="26646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344" y="4356906"/>
            <a:ext cx="4243388" cy="2607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64344" y="4360478"/>
            <a:ext cx="424338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4356" y="443370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35806" y="4421200"/>
            <a:ext cx="387191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dashboard — live system.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029200" y="184811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063311" y="1882222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20" name="Text 16"/>
          <p:cNvSpPr/>
          <p:nvPr/>
        </p:nvSpPr>
        <p:spPr>
          <a:xfrm>
            <a:off x="5414963" y="1848110"/>
            <a:ext cx="3271838" cy="419999"/>
          </a:xfrm>
          <a:prstGeom prst="rect">
            <a:avLst/>
          </a:prstGeom>
          <a:noFill/>
          <a:ln/>
        </p:spPr>
        <p:txBody>
          <a:bodyPr wrap="squar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 dashboard: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course, year, today’s classes, fee balance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029200" y="232986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063311" y="236397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77" dirty="0"/>
          </a:p>
        </p:txBody>
      </p:sp>
      <p:sp>
        <p:nvSpPr>
          <p:cNvPr id="23" name="Text 19"/>
          <p:cNvSpPr/>
          <p:nvPr/>
        </p:nvSpPr>
        <p:spPr>
          <a:xfrm>
            <a:off x="5414963" y="2329867"/>
            <a:ext cx="3271838" cy="419999"/>
          </a:xfrm>
          <a:prstGeom prst="rect">
            <a:avLst/>
          </a:prstGeom>
          <a:noFill/>
          <a:ln/>
        </p:spPr>
        <p:txBody>
          <a:bodyPr wrap="squar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 payments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M-PESA or bank, with instant balance updates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29200" y="281162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063311" y="284573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77" dirty="0"/>
          </a:p>
        </p:txBody>
      </p:sp>
      <p:sp>
        <p:nvSpPr>
          <p:cNvPr id="26" name="Text 22"/>
          <p:cNvSpPr/>
          <p:nvPr/>
        </p:nvSpPr>
        <p:spPr>
          <a:xfrm>
            <a:off x="5414963" y="2811624"/>
            <a:ext cx="3271838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 fee statements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college letterhead, printable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029200" y="3190242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063311" y="3224354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77" dirty="0"/>
          </a:p>
        </p:txBody>
      </p:sp>
      <p:sp>
        <p:nvSpPr>
          <p:cNvPr id="29" name="Text 25"/>
          <p:cNvSpPr/>
          <p:nvPr/>
        </p:nvSpPr>
        <p:spPr>
          <a:xfrm>
            <a:off x="5414963" y="3190242"/>
            <a:ext cx="3271838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transcripts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grouped by term with grades &amp; GPA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0" y="356886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063311" y="3602973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32" name="Text 28"/>
          <p:cNvSpPr/>
          <p:nvPr/>
        </p:nvSpPr>
        <p:spPr>
          <a:xfrm>
            <a:off x="5414963" y="3568861"/>
            <a:ext cx="3271838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timetable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lecturer-uploaded learning materials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29200" y="394748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063311" y="398159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35" name="Text 31"/>
          <p:cNvSpPr/>
          <p:nvPr/>
        </p:nvSpPr>
        <p:spPr>
          <a:xfrm>
            <a:off x="5414963" y="3947480"/>
            <a:ext cx="3271838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student ID card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crest and admission number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25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02 — OFFICIAL DOCUMENTS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Documents the college can be proud of.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5102"/>
            <a:ext cx="400050" cy="35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72" y="1731578"/>
            <a:ext cx="3579019" cy="575072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2931" y="1849450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0972" y="1887490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17" dirty="0"/>
          </a:p>
        </p:txBody>
      </p:sp>
      <p:sp>
        <p:nvSpPr>
          <p:cNvPr id="8" name="Text 5"/>
          <p:cNvSpPr/>
          <p:nvPr/>
        </p:nvSpPr>
        <p:spPr>
          <a:xfrm>
            <a:off x="1007269" y="1849450"/>
            <a:ext cx="2900363" cy="339328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 statement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full ledger of charges and payments, M-PESA paybill in the footer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460772" y="2413806"/>
            <a:ext cx="3579019" cy="575072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2931" y="253167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0972" y="2569718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2" name="Text 9"/>
          <p:cNvSpPr/>
          <p:nvPr/>
        </p:nvSpPr>
        <p:spPr>
          <a:xfrm>
            <a:off x="1007269" y="2531678"/>
            <a:ext cx="2900363" cy="339328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transcript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every unit, mark, grade and remark, grouped by term, with examination body of record</a:t>
            </a:r>
            <a:endParaRPr lang="en-US" sz="844" dirty="0"/>
          </a:p>
        </p:txBody>
      </p:sp>
      <p:sp>
        <p:nvSpPr>
          <p:cNvPr id="13" name="Text 10"/>
          <p:cNvSpPr/>
          <p:nvPr/>
        </p:nvSpPr>
        <p:spPr>
          <a:xfrm>
            <a:off x="460772" y="3096034"/>
            <a:ext cx="3579019" cy="575072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2931" y="321390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0972" y="3251947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6" name="Text 13"/>
          <p:cNvSpPr/>
          <p:nvPr/>
        </p:nvSpPr>
        <p:spPr>
          <a:xfrm>
            <a:off x="1007269" y="3213906"/>
            <a:ext cx="2900363" cy="339328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ID card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crest, admission number, course, campus, validity period, barcode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460772" y="3821125"/>
            <a:ext cx="3579019" cy="528638"/>
          </a:xfrm>
          <a:prstGeom prst="roundRect">
            <a:avLst>
              <a:gd name="adj" fmla="val 25225"/>
            </a:avLst>
          </a:prstGeom>
          <a:solidFill>
            <a:srgbClr val="E4ECF5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92931" y="400686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835819" y="3924709"/>
            <a:ext cx="30718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print-ready on ordinary office printers — generated straight from live data, no word-processing, no delays.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4332684" y="1431541"/>
            <a:ext cx="4350544" cy="3218259"/>
          </a:xfrm>
          <a:prstGeom prst="roundRect">
            <a:avLst>
              <a:gd name="adj" fmla="val 296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323850" dist="95250" dir="5400000">
              <a:srgbClr val="0B1F3F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36256" y="1435112"/>
            <a:ext cx="4343400" cy="22860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336256" y="1660141"/>
            <a:ext cx="43434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36269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43425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650581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233507" y="1520837"/>
            <a:ext cx="50006" cy="50006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233507" y="1486905"/>
            <a:ext cx="3461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28" name="Image 1" descr="/tmp/h2p-fit-1793119829445-pu8k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256" y="1663712"/>
            <a:ext cx="4343400" cy="272176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336256" y="4385481"/>
            <a:ext cx="4343400" cy="2607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4336256" y="4389053"/>
            <a:ext cx="43434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36269" y="446227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4607719" y="4449775"/>
            <a:ext cx="39719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Printable transcript view — live system.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25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03 — LECTURERS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Teaching insight, not paperwork.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5102"/>
            <a:ext cx="400050" cy="35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72" y="1385106"/>
            <a:ext cx="3993356" cy="3311128"/>
          </a:xfrm>
          <a:prstGeom prst="roundRect">
            <a:avLst>
              <a:gd name="adj" fmla="val 287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323850" dist="95250" dir="5400000">
              <a:srgbClr val="0B1F3F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344" y="1388678"/>
            <a:ext cx="3986213" cy="22860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64344" y="1613706"/>
            <a:ext cx="398621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4356" y="146725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513" y="146725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8669" y="1467259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04407" y="1474403"/>
            <a:ext cx="50006" cy="50006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04407" y="1440470"/>
            <a:ext cx="3461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13" name="Image 1" descr="/tmp/h2p-fit-1793119829463-hjjko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1617278"/>
            <a:ext cx="3986213" cy="28146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344" y="4431916"/>
            <a:ext cx="3986213" cy="2607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64344" y="4435487"/>
            <a:ext cx="398621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4356" y="45087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35806" y="4496209"/>
            <a:ext cx="3614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 analytics with grade distribution — live system.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772025" y="178058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806136" y="181469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20" name="Text 16"/>
          <p:cNvSpPr/>
          <p:nvPr/>
        </p:nvSpPr>
        <p:spPr>
          <a:xfrm>
            <a:off x="5157788" y="1780580"/>
            <a:ext cx="3529013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Today’s teaching schedule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a glance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72025" y="2166342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06136" y="2200454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77" dirty="0"/>
          </a:p>
        </p:txBody>
      </p:sp>
      <p:sp>
        <p:nvSpPr>
          <p:cNvPr id="23" name="Text 19"/>
          <p:cNvSpPr/>
          <p:nvPr/>
        </p:nvSpPr>
        <p:spPr>
          <a:xfrm>
            <a:off x="5157788" y="2166342"/>
            <a:ext cx="3529013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 rosters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student counts per unit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72025" y="255210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06136" y="258621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6" name="Text 22"/>
          <p:cNvSpPr/>
          <p:nvPr/>
        </p:nvSpPr>
        <p:spPr>
          <a:xfrm>
            <a:off x="5157788" y="2552105"/>
            <a:ext cx="3529013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marks entry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automatic grading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72025" y="293786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06136" y="2971979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77" dirty="0"/>
          </a:p>
        </p:txBody>
      </p:sp>
      <p:sp>
        <p:nvSpPr>
          <p:cNvPr id="29" name="Text 25"/>
          <p:cNvSpPr/>
          <p:nvPr/>
        </p:nvSpPr>
        <p:spPr>
          <a:xfrm>
            <a:off x="5157788" y="2937867"/>
            <a:ext cx="3529013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 analytics: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average, highest, lowest marks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72025" y="332363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806136" y="335774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32" name="Text 28"/>
          <p:cNvSpPr/>
          <p:nvPr/>
        </p:nvSpPr>
        <p:spPr>
          <a:xfrm>
            <a:off x="5157788" y="3323630"/>
            <a:ext cx="3529013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 rate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grade distribution charts per unit</a:t>
            </a:r>
            <a:endParaRPr lang="en-US" sz="9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3780830"/>
            <a:ext cx="3914775" cy="51993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900613" y="396221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5" name="Text 30"/>
          <p:cNvSpPr/>
          <p:nvPr/>
        </p:nvSpPr>
        <p:spPr>
          <a:xfrm>
            <a:off x="5143500" y="3880842"/>
            <a:ext cx="341471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Lecturers see how their classes perform the moment marks are entered.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25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04 — MANAGEMENT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whole college, from one console.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5102"/>
            <a:ext cx="400050" cy="35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9967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1311" y="193379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7" name="Text 4"/>
          <p:cNvSpPr/>
          <p:nvPr/>
        </p:nvSpPr>
        <p:spPr>
          <a:xfrm>
            <a:off x="842963" y="1899679"/>
            <a:ext cx="3200400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KPIs: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enrolment, fee collection rate, applications funnel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278298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1311" y="231241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10" name="Text 7"/>
          <p:cNvSpPr/>
          <p:nvPr/>
        </p:nvSpPr>
        <p:spPr>
          <a:xfrm>
            <a:off x="842963" y="2278298"/>
            <a:ext cx="3200400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charts: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payment trends and campus distribution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65691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1311" y="269102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77" dirty="0"/>
          </a:p>
        </p:txBody>
      </p:sp>
      <p:sp>
        <p:nvSpPr>
          <p:cNvPr id="13" name="Text 10"/>
          <p:cNvSpPr/>
          <p:nvPr/>
        </p:nvSpPr>
        <p:spPr>
          <a:xfrm>
            <a:off x="842963" y="2656917"/>
            <a:ext cx="3200400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student records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search and detail views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303553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311" y="306964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16" name="Text 13"/>
          <p:cNvSpPr/>
          <p:nvPr/>
        </p:nvSpPr>
        <p:spPr>
          <a:xfrm>
            <a:off x="842963" y="3035536"/>
            <a:ext cx="3200400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review: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accept or decline with one click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41415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311" y="344826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77" dirty="0"/>
          </a:p>
        </p:txBody>
      </p:sp>
      <p:sp>
        <p:nvSpPr>
          <p:cNvPr id="19" name="Text 16"/>
          <p:cNvSpPr/>
          <p:nvPr/>
        </p:nvSpPr>
        <p:spPr>
          <a:xfrm>
            <a:off x="842963" y="3414154"/>
            <a:ext cx="3200400" cy="244718"/>
          </a:xfrm>
          <a:prstGeom prst="rect">
            <a:avLst/>
          </a:prstGeom>
          <a:noFill/>
          <a:ln/>
        </p:spPr>
        <p:txBody>
          <a:bodyPr wrap="non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Announcements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students, staff or everyone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79277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1A4FD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1311" y="382688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77" dirty="0"/>
          </a:p>
        </p:txBody>
      </p:sp>
      <p:sp>
        <p:nvSpPr>
          <p:cNvPr id="22" name="Text 19"/>
          <p:cNvSpPr/>
          <p:nvPr/>
        </p:nvSpPr>
        <p:spPr>
          <a:xfrm>
            <a:off x="842963" y="3792773"/>
            <a:ext cx="3200400" cy="419999"/>
          </a:xfrm>
          <a:prstGeom prst="rect">
            <a:avLst/>
          </a:prstGeom>
          <a:noFill/>
          <a:ln/>
        </p:spPr>
        <p:txBody>
          <a:bodyPr wrap="square" lIns="0" tIns="64294" rIns="0" bIns="0" rtlCol="0" anchor="t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one-click CSV exports:</a:t>
            </a:r>
            <a:pPr algn="l"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students, payments, applications, results, outstanding balances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32684" y="1431541"/>
            <a:ext cx="4350544" cy="3218259"/>
          </a:xfrm>
          <a:prstGeom prst="roundRect">
            <a:avLst>
              <a:gd name="adj" fmla="val 296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323850" dist="95250" dir="5400000">
              <a:srgbClr val="0B1F3F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336256" y="1435112"/>
            <a:ext cx="4343400" cy="22860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336256" y="1660141"/>
            <a:ext cx="43434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36269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43425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650581" y="1513694"/>
            <a:ext cx="64294" cy="64294"/>
          </a:xfrm>
          <a:prstGeom prst="ellipse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233507" y="1520837"/>
            <a:ext cx="50006" cy="50006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33507" y="1486905"/>
            <a:ext cx="3461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31" name="Image 1" descr="/tmp/h2p-fit-1793119837002-ain8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256" y="1663712"/>
            <a:ext cx="4343400" cy="2721769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336256" y="4385481"/>
            <a:ext cx="4343400" cy="2607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336256" y="4389053"/>
            <a:ext cx="4343400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36269" y="446227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4607719" y="4449775"/>
            <a:ext cx="39719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overview — live system.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38" y="-2143125"/>
            <a:ext cx="5429250" cy="5429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4938" y="-2143125"/>
            <a:ext cx="5429250" cy="5429250"/>
          </a:xfrm>
          <a:prstGeom prst="rect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75022" y="175022"/>
            <a:ext cx="8793956" cy="4793456"/>
          </a:xfrm>
          <a:prstGeom prst="roundRect">
            <a:avLst>
              <a:gd name="adj" fmla="val 1192"/>
            </a:avLst>
          </a:prstGeom>
          <a:noFill/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25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560784"/>
            <a:ext cx="8636000" cy="68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17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 24/7 admissions officer.</a:t>
            </a:r>
            <a:endParaRPr lang="en-US" sz="2138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2138" b="1" spc="-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personal tutor for every student.</a:t>
            </a:r>
            <a:endParaRPr lang="en-US" sz="2138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4851"/>
            <a:ext cx="400050" cy="357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772" y="1518605"/>
            <a:ext cx="3993356" cy="3339703"/>
          </a:xfrm>
          <a:prstGeom prst="roundRect">
            <a:avLst>
              <a:gd name="adj" fmla="val 2852"/>
            </a:avLst>
          </a:prstGeom>
          <a:solidFill>
            <a:srgbClr val="0D2347"/>
          </a:solidFill>
          <a:ln w="7144">
            <a:solidFill>
              <a:srgbClr val="4DA8DA"/>
            </a:solidFill>
            <a:prstDash val="solid"/>
          </a:ln>
          <a:effectLst>
            <a:outerShdw sx="100000" sy="100000" kx="0" ky="0" algn="bl" rotWithShape="0" blurRad="571500" dist="209550" dir="54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64344" y="1522177"/>
            <a:ext cx="3986213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464344" y="1747205"/>
            <a:ext cx="39862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4356" y="1600758"/>
            <a:ext cx="64294" cy="64294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71513" y="1600758"/>
            <a:ext cx="64294" cy="64294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78669" y="1600758"/>
            <a:ext cx="64294" cy="64294"/>
          </a:xfrm>
          <a:prstGeom prst="ellipse">
            <a:avLst/>
          </a:prstGeom>
          <a:solidFill>
            <a:srgbClr val="FFFFFF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4407" y="1607902"/>
            <a:ext cx="50006" cy="50006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004407" y="1573969"/>
            <a:ext cx="3461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16" name="Image 2" descr="/tmp/h2p-fit-1793119837151-5natf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750777"/>
            <a:ext cx="3986213" cy="28146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344" y="4565414"/>
            <a:ext cx="3986213" cy="2893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464344" y="4568986"/>
            <a:ext cx="39862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4356" y="46564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735806" y="4643996"/>
            <a:ext cx="3614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" kern="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Study Buddy in conversation — live system.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775597" y="1868649"/>
            <a:ext cx="3907631" cy="998339"/>
          </a:xfrm>
          <a:prstGeom prst="roundRect">
            <a:avLst>
              <a:gd name="adj" fmla="val 13357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922044" y="2000808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4DA8DA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962049" y="204081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4" name="Text 19"/>
          <p:cNvSpPr/>
          <p:nvPr/>
        </p:nvSpPr>
        <p:spPr>
          <a:xfrm>
            <a:off x="5364956" y="2000808"/>
            <a:ext cx="31718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Website AI Assistant</a:t>
            </a:r>
            <a:endParaRPr lang="en-US" sz="1013" dirty="0"/>
          </a:p>
        </p:txBody>
      </p:sp>
      <p:sp>
        <p:nvSpPr>
          <p:cNvPr id="25" name="Text 20"/>
          <p:cNvSpPr/>
          <p:nvPr/>
        </p:nvSpPr>
        <p:spPr>
          <a:xfrm>
            <a:off x="5364956" y="2236552"/>
            <a:ext cx="317182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Answers course, fee, intake and campus questions around the clock, drawing answers from the live course database so it never quotes stale fees.</a:t>
            </a:r>
            <a:endParaRPr lang="en-US" sz="844" dirty="0"/>
          </a:p>
        </p:txBody>
      </p:sp>
      <p:sp>
        <p:nvSpPr>
          <p:cNvPr id="26" name="Text 21"/>
          <p:cNvSpPr/>
          <p:nvPr/>
        </p:nvSpPr>
        <p:spPr>
          <a:xfrm>
            <a:off x="4775597" y="2988432"/>
            <a:ext cx="3907631" cy="998339"/>
          </a:xfrm>
          <a:prstGeom prst="roundRect">
            <a:avLst>
              <a:gd name="adj" fmla="val 13357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922044" y="3120591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4DA8DA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962049" y="316059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29" name="Text 24"/>
          <p:cNvSpPr/>
          <p:nvPr/>
        </p:nvSpPr>
        <p:spPr>
          <a:xfrm>
            <a:off x="5364956" y="3120591"/>
            <a:ext cx="31718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Study Buddy</a:t>
            </a:r>
            <a:endParaRPr lang="en-US" sz="1013" dirty="0"/>
          </a:p>
        </p:txBody>
      </p:sp>
      <p:sp>
        <p:nvSpPr>
          <p:cNvPr id="30" name="Text 25"/>
          <p:cNvSpPr/>
          <p:nvPr/>
        </p:nvSpPr>
        <p:spPr>
          <a:xfrm>
            <a:off x="5364956" y="3356335"/>
            <a:ext cx="317182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Inside the student portal: knows the student’s actual units and materials; explains concepts, generates practice questions and quiz drills for the exact syllabus being studied.</a:t>
            </a:r>
            <a:endParaRPr lang="en-US" sz="844" dirty="0"/>
          </a:p>
        </p:txBody>
      </p:sp>
      <p:sp>
        <p:nvSpPr>
          <p:cNvPr id="31" name="Shape 26"/>
          <p:cNvSpPr/>
          <p:nvPr/>
        </p:nvSpPr>
        <p:spPr>
          <a:xfrm>
            <a:off x="4772025" y="4222514"/>
            <a:ext cx="3914775" cy="0"/>
          </a:xfrm>
          <a:prstGeom prst="line">
            <a:avLst/>
          </a:prstGeom>
          <a:noFill/>
          <a:ln w="7144">
            <a:solidFill>
              <a:srgbClr val="4DA8D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72025" y="43546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3" name="Text 28"/>
          <p:cNvSpPr/>
          <p:nvPr/>
        </p:nvSpPr>
        <p:spPr>
          <a:xfrm>
            <a:off x="4986338" y="4340386"/>
            <a:ext cx="3700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i="1" spc="17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regional first for a college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688" y="-1214437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3688" y="-1214437"/>
            <a:ext cx="3571875" cy="3571875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4437" y="2786063"/>
            <a:ext cx="3857625" cy="3857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214437" y="2786063"/>
            <a:ext cx="3857625" cy="3857625"/>
          </a:xfrm>
          <a:prstGeom prst="ellipse">
            <a:avLst/>
          </a:prstGeom>
          <a:solidFill>
            <a:srgbClr val="2D7AB3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 THE HOOD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8636000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250" b="1" spc="-17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Modern engineering. </a:t>
            </a:r>
            <a:pPr algn="l" indent="0" marL="0">
              <a:lnSpc>
                <a:spcPts val="2565"/>
              </a:lnSpc>
              <a:buNone/>
            </a:pPr>
            <a:r>
              <a:rPr lang="en-US" sz="2250" b="1" spc="-17" kern="0" dirty="0">
                <a:solidFill>
                  <a:srgbClr val="1A4FD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Full ownership.</a:t>
            </a:r>
            <a:endParaRPr lang="en-US" sz="2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86520"/>
            <a:ext cx="400050" cy="357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772" y="1361554"/>
            <a:ext cx="2640732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696703" y="147942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06" dirty="0"/>
          </a:p>
        </p:txBody>
      </p:sp>
      <p:sp>
        <p:nvSpPr>
          <p:cNvPr id="11" name="Text 6"/>
          <p:cNvSpPr/>
          <p:nvPr/>
        </p:nvSpPr>
        <p:spPr>
          <a:xfrm>
            <a:off x="621506" y="164350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54368" y="167637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3" name="Text 8"/>
          <p:cNvSpPr/>
          <p:nvPr/>
        </p:nvSpPr>
        <p:spPr>
          <a:xfrm>
            <a:off x="1035844" y="1719188"/>
            <a:ext cx="1904926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1069" dirty="0"/>
          </a:p>
        </p:txBody>
      </p:sp>
      <p:sp>
        <p:nvSpPr>
          <p:cNvPr id="14" name="Text 9"/>
          <p:cNvSpPr/>
          <p:nvPr/>
        </p:nvSpPr>
        <p:spPr>
          <a:xfrm>
            <a:off x="621506" y="2043559"/>
            <a:ext cx="23192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16, TypeScript, Tailwind CSS, shadcn/ui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251522" y="1361554"/>
            <a:ext cx="2640843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487565" y="147942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06" dirty="0"/>
          </a:p>
        </p:txBody>
      </p:sp>
      <p:sp>
        <p:nvSpPr>
          <p:cNvPr id="17" name="Text 12"/>
          <p:cNvSpPr/>
          <p:nvPr/>
        </p:nvSpPr>
        <p:spPr>
          <a:xfrm>
            <a:off x="3412257" y="164350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445118" y="167637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9" name="Text 14"/>
          <p:cNvSpPr/>
          <p:nvPr/>
        </p:nvSpPr>
        <p:spPr>
          <a:xfrm>
            <a:off x="3826594" y="1719188"/>
            <a:ext cx="1905037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1069" dirty="0"/>
          </a:p>
        </p:txBody>
      </p:sp>
      <p:sp>
        <p:nvSpPr>
          <p:cNvPr id="20" name="Text 15"/>
          <p:cNvSpPr/>
          <p:nvPr/>
        </p:nvSpPr>
        <p:spPr>
          <a:xfrm>
            <a:off x="3412257" y="2043559"/>
            <a:ext cx="23193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Server-side API routes, nothing sensitive in the browser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042385" y="1361554"/>
            <a:ext cx="2640732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8278316" y="147942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06" dirty="0"/>
          </a:p>
        </p:txBody>
      </p:sp>
      <p:sp>
        <p:nvSpPr>
          <p:cNvPr id="23" name="Text 18"/>
          <p:cNvSpPr/>
          <p:nvPr/>
        </p:nvSpPr>
        <p:spPr>
          <a:xfrm>
            <a:off x="6203119" y="164350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235980" y="167637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5" name="Text 20"/>
          <p:cNvSpPr/>
          <p:nvPr/>
        </p:nvSpPr>
        <p:spPr>
          <a:xfrm>
            <a:off x="6617457" y="1719188"/>
            <a:ext cx="1904926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1069" dirty="0"/>
          </a:p>
        </p:txBody>
      </p:sp>
      <p:sp>
        <p:nvSpPr>
          <p:cNvPr id="26" name="Text 21"/>
          <p:cNvSpPr/>
          <p:nvPr/>
        </p:nvSpPr>
        <p:spPr>
          <a:xfrm>
            <a:off x="6203119" y="2043559"/>
            <a:ext cx="23192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ORM over SQL (PostgreSQL in production)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60772" y="2818544"/>
            <a:ext cx="2640732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696703" y="293641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06" dirty="0"/>
          </a:p>
        </p:txBody>
      </p:sp>
      <p:sp>
        <p:nvSpPr>
          <p:cNvPr id="29" name="Text 24"/>
          <p:cNvSpPr/>
          <p:nvPr/>
        </p:nvSpPr>
        <p:spPr>
          <a:xfrm>
            <a:off x="621506" y="310049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54368" y="313336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1" name="Text 26"/>
          <p:cNvSpPr/>
          <p:nvPr/>
        </p:nvSpPr>
        <p:spPr>
          <a:xfrm>
            <a:off x="1035844" y="3176178"/>
            <a:ext cx="1904926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1069" dirty="0"/>
          </a:p>
        </p:txBody>
      </p:sp>
      <p:sp>
        <p:nvSpPr>
          <p:cNvPr id="32" name="Text 27"/>
          <p:cNvSpPr/>
          <p:nvPr/>
        </p:nvSpPr>
        <p:spPr>
          <a:xfrm>
            <a:off x="621506" y="3500549"/>
            <a:ext cx="23192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 password hashing, session cookies, role-based access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251522" y="2818544"/>
            <a:ext cx="2640843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487565" y="293641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06" dirty="0"/>
          </a:p>
        </p:txBody>
      </p:sp>
      <p:sp>
        <p:nvSpPr>
          <p:cNvPr id="35" name="Text 30"/>
          <p:cNvSpPr/>
          <p:nvPr/>
        </p:nvSpPr>
        <p:spPr>
          <a:xfrm>
            <a:off x="3412257" y="318622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445118" y="321908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7" name="Text 32"/>
          <p:cNvSpPr/>
          <p:nvPr/>
        </p:nvSpPr>
        <p:spPr>
          <a:xfrm>
            <a:off x="3826594" y="3261903"/>
            <a:ext cx="1905037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services</a:t>
            </a:r>
            <a:endParaRPr lang="en-US" sz="1069" dirty="0"/>
          </a:p>
        </p:txBody>
      </p:sp>
      <p:sp>
        <p:nvSpPr>
          <p:cNvPr id="38" name="Text 33"/>
          <p:cNvSpPr/>
          <p:nvPr/>
        </p:nvSpPr>
        <p:spPr>
          <a:xfrm>
            <a:off x="3412257" y="3586274"/>
            <a:ext cx="24291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Server-side large language model SDK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042385" y="2818544"/>
            <a:ext cx="2640732" cy="1306971"/>
          </a:xfrm>
          <a:prstGeom prst="roundRect">
            <a:avLst>
              <a:gd name="adj" fmla="val 1020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8278316" y="2936416"/>
            <a:ext cx="32382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6" b="1" dirty="0">
                <a:solidFill>
                  <a:srgbClr val="1A4FD0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406" dirty="0"/>
          </a:p>
        </p:txBody>
      </p:sp>
      <p:sp>
        <p:nvSpPr>
          <p:cNvPr id="41" name="Text 36"/>
          <p:cNvSpPr/>
          <p:nvPr/>
        </p:nvSpPr>
        <p:spPr>
          <a:xfrm>
            <a:off x="6203119" y="310049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6235980" y="313336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43" name="Text 38"/>
          <p:cNvSpPr/>
          <p:nvPr/>
        </p:nvSpPr>
        <p:spPr>
          <a:xfrm>
            <a:off x="6617457" y="3176178"/>
            <a:ext cx="1904926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Hosting</a:t>
            </a:r>
            <a:endParaRPr lang="en-US" sz="1069" dirty="0"/>
          </a:p>
        </p:txBody>
      </p:sp>
      <p:sp>
        <p:nvSpPr>
          <p:cNvPr id="44" name="Text 39"/>
          <p:cNvSpPr/>
          <p:nvPr/>
        </p:nvSpPr>
        <p:spPr>
          <a:xfrm>
            <a:off x="6203119" y="3500549"/>
            <a:ext cx="23192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 or Netlify, automatic HTTPS, continuous deployment</a:t>
            </a:r>
            <a:endParaRPr lang="en-US" sz="9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86250"/>
            <a:ext cx="8229600" cy="51435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42938" y="4393406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4DA8DA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73834" y="442430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48" name="Text 42"/>
          <p:cNvSpPr/>
          <p:nvPr/>
        </p:nvSpPr>
        <p:spPr>
          <a:xfrm>
            <a:off x="1071563" y="4455356"/>
            <a:ext cx="7429500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Delivered as a complete codebase in a </a:t>
            </a:r>
            <a:pPr algn="l" indent="0" marL="0">
              <a:lnSpc>
                <a:spcPts val="1387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repository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87"/>
              </a:lnSpc>
              <a:buNone/>
            </a:pPr>
            <a:r>
              <a:rPr lang="en-US" sz="956" b="1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college owns the platform outright.</a:t>
            </a:r>
            <a:endParaRPr lang="en-US" sz="95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688" y="-1214437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3688" y="-1214437"/>
            <a:ext cx="3571875" cy="3571875"/>
          </a:xfrm>
          <a:prstGeom prst="ellipse">
            <a:avLst/>
          </a:prstGeom>
          <a:solidFill>
            <a:srgbClr val="1A4FD0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4437" y="2786063"/>
            <a:ext cx="3857625" cy="3857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214437" y="2786063"/>
            <a:ext cx="3857625" cy="3857625"/>
          </a:xfrm>
          <a:prstGeom prst="ellipse">
            <a:avLst/>
          </a:prstGeom>
          <a:solidFill>
            <a:srgbClr val="2D7AB3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25" kern="0" dirty="0">
                <a:solidFill>
                  <a:srgbClr val="1A4F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ENGAGEMENT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60784"/>
            <a:ext cx="8636000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250" b="1" spc="-17" kern="0" dirty="0">
                <a:solidFill>
                  <a:srgbClr val="0B1F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Weeks, not months. </a:t>
            </a:r>
            <a:pPr algn="l" indent="0" marL="0">
              <a:lnSpc>
                <a:spcPts val="2565"/>
              </a:lnSpc>
              <a:buNone/>
            </a:pPr>
            <a:r>
              <a:rPr lang="en-US" sz="2250" b="1" spc="-17" kern="0" dirty="0">
                <a:solidFill>
                  <a:srgbClr val="1A4FD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Phased, transparent pricing.</a:t>
            </a:r>
            <a:endParaRPr lang="en-US" sz="2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2232"/>
            <a:ext cx="400050" cy="3571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1436563"/>
            <a:ext cx="6172200" cy="2143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533" y="1600870"/>
            <a:ext cx="59473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1037660" y="1754460"/>
            <a:ext cx="896369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</a:t>
            </a:r>
            <a:endParaRPr lang="en-US" sz="1069" dirty="0"/>
          </a:p>
        </p:txBody>
      </p:sp>
      <p:sp>
        <p:nvSpPr>
          <p:cNvPr id="12" name="Text 6"/>
          <p:cNvSpPr/>
          <p:nvPr/>
        </p:nvSpPr>
        <p:spPr>
          <a:xfrm>
            <a:off x="721492" y="1953034"/>
            <a:ext cx="1528704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1428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brand, content, domain &amp; hosting</a:t>
            </a:r>
            <a:endParaRPr lang="en-US" sz="759" dirty="0"/>
          </a:p>
        </p:txBody>
      </p:sp>
      <p:sp>
        <p:nvSpPr>
          <p:cNvPr id="13" name="Text 7"/>
          <p:cNvSpPr/>
          <p:nvPr/>
        </p:nvSpPr>
        <p:spPr>
          <a:xfrm>
            <a:off x="3245933" y="1600870"/>
            <a:ext cx="59473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2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3088047" y="1754460"/>
            <a:ext cx="910507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</a:t>
            </a:r>
            <a:endParaRPr lang="en-US" sz="1069" dirty="0"/>
          </a:p>
        </p:txBody>
      </p:sp>
      <p:sp>
        <p:nvSpPr>
          <p:cNvPr id="15" name="Text 9"/>
          <p:cNvSpPr/>
          <p:nvPr/>
        </p:nvSpPr>
        <p:spPr>
          <a:xfrm>
            <a:off x="3045046" y="1953034"/>
            <a:ext cx="996508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1428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website &amp; portals live</a:t>
            </a:r>
            <a:endParaRPr lang="en-US" sz="759" dirty="0"/>
          </a:p>
        </p:txBody>
      </p:sp>
      <p:sp>
        <p:nvSpPr>
          <p:cNvPr id="16" name="Text 10"/>
          <p:cNvSpPr/>
          <p:nvPr/>
        </p:nvSpPr>
        <p:spPr>
          <a:xfrm>
            <a:off x="5303333" y="1600870"/>
            <a:ext cx="59473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3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5035035" y="1754460"/>
            <a:ext cx="1131331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training</a:t>
            </a:r>
            <a:endParaRPr lang="en-US" sz="1069" dirty="0"/>
          </a:p>
        </p:txBody>
      </p:sp>
      <p:sp>
        <p:nvSpPr>
          <p:cNvPr id="18" name="Text 12"/>
          <p:cNvSpPr/>
          <p:nvPr/>
        </p:nvSpPr>
        <p:spPr>
          <a:xfrm>
            <a:off x="4909823" y="1953034"/>
            <a:ext cx="1381753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1428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records migrated, staff trained</a:t>
            </a:r>
            <a:endParaRPr lang="en-US" sz="759" dirty="0"/>
          </a:p>
        </p:txBody>
      </p:sp>
      <p:sp>
        <p:nvSpPr>
          <p:cNvPr id="19" name="Text 13"/>
          <p:cNvSpPr/>
          <p:nvPr/>
        </p:nvSpPr>
        <p:spPr>
          <a:xfrm>
            <a:off x="7360733" y="1600870"/>
            <a:ext cx="59473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41" kern="0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4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340448" y="1754460"/>
            <a:ext cx="635304" cy="171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B1F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Go-live</a:t>
            </a:r>
            <a:endParaRPr lang="en-US" sz="1069" dirty="0"/>
          </a:p>
        </p:txBody>
      </p:sp>
      <p:sp>
        <p:nvSpPr>
          <p:cNvPr id="21" name="Text 15"/>
          <p:cNvSpPr/>
          <p:nvPr/>
        </p:nvSpPr>
        <p:spPr>
          <a:xfrm>
            <a:off x="6889352" y="1953034"/>
            <a:ext cx="1537384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142840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public launch + 30-day hypercare</a:t>
            </a:r>
            <a:endParaRPr lang="en-US" sz="759" dirty="0"/>
          </a:p>
        </p:txBody>
      </p:sp>
      <p:sp>
        <p:nvSpPr>
          <p:cNvPr id="22" name="Text 16"/>
          <p:cNvSpPr/>
          <p:nvPr/>
        </p:nvSpPr>
        <p:spPr>
          <a:xfrm>
            <a:off x="460772" y="2404542"/>
            <a:ext cx="8222456" cy="2191122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171450" dist="38100" dir="5400000">
              <a:srgbClr val="0B1F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64344" y="2408113"/>
            <a:ext cx="8215313" cy="3107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464344" y="2715295"/>
            <a:ext cx="8215313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64369" y="2500982"/>
            <a:ext cx="82296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78719" y="2500982"/>
            <a:ext cx="730091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793581" y="2500982"/>
            <a:ext cx="26860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64344" y="2718867"/>
            <a:ext cx="8215313" cy="3406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64369" y="2782044"/>
            <a:ext cx="214313" cy="214313"/>
          </a:xfrm>
          <a:prstGeom prst="ellipse">
            <a:avLst/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64369" y="27820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31" name="Text 25"/>
          <p:cNvSpPr/>
          <p:nvPr/>
        </p:nvSpPr>
        <p:spPr>
          <a:xfrm>
            <a:off x="1178719" y="2798118"/>
            <a:ext cx="59032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website</a:t>
            </a:r>
            <a:endParaRPr lang="en-US" sz="956" dirty="0"/>
          </a:p>
        </p:txBody>
      </p:sp>
      <p:sp>
        <p:nvSpPr>
          <p:cNvPr id="32" name="Text 26"/>
          <p:cNvSpPr/>
          <p:nvPr/>
        </p:nvSpPr>
        <p:spPr>
          <a:xfrm>
            <a:off x="6196489" y="2792760"/>
            <a:ext cx="228314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B1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15,000</a:t>
            </a:r>
            <a:endParaRPr lang="en-US" sz="1013" dirty="0"/>
          </a:p>
        </p:txBody>
      </p:sp>
      <p:sp>
        <p:nvSpPr>
          <p:cNvPr id="33" name="Text 27"/>
          <p:cNvSpPr/>
          <p:nvPr/>
        </p:nvSpPr>
        <p:spPr>
          <a:xfrm>
            <a:off x="464344" y="3059534"/>
            <a:ext cx="8215313" cy="34066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664369" y="3122712"/>
            <a:ext cx="214313" cy="214313"/>
          </a:xfrm>
          <a:prstGeom prst="ellipse">
            <a:avLst/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664369" y="312271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36" name="Text 30"/>
          <p:cNvSpPr/>
          <p:nvPr/>
        </p:nvSpPr>
        <p:spPr>
          <a:xfrm>
            <a:off x="1178719" y="3138785"/>
            <a:ext cx="6071902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lecturer portals</a:t>
            </a:r>
            <a:endParaRPr lang="en-US" sz="956" dirty="0"/>
          </a:p>
        </p:txBody>
      </p:sp>
      <p:sp>
        <p:nvSpPr>
          <p:cNvPr id="37" name="Text 31"/>
          <p:cNvSpPr/>
          <p:nvPr/>
        </p:nvSpPr>
        <p:spPr>
          <a:xfrm>
            <a:off x="6196489" y="3133427"/>
            <a:ext cx="228314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B1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22,000</a:t>
            </a:r>
            <a:endParaRPr lang="en-US" sz="1013" dirty="0"/>
          </a:p>
        </p:txBody>
      </p:sp>
      <p:sp>
        <p:nvSpPr>
          <p:cNvPr id="38" name="Text 32"/>
          <p:cNvSpPr/>
          <p:nvPr/>
        </p:nvSpPr>
        <p:spPr>
          <a:xfrm>
            <a:off x="464344" y="3400202"/>
            <a:ext cx="8215313" cy="3406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64369" y="3463379"/>
            <a:ext cx="214313" cy="214313"/>
          </a:xfrm>
          <a:prstGeom prst="ellipse">
            <a:avLst/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64369" y="346337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41" name="Text 35"/>
          <p:cNvSpPr/>
          <p:nvPr/>
        </p:nvSpPr>
        <p:spPr>
          <a:xfrm>
            <a:off x="1178719" y="3479453"/>
            <a:ext cx="6071902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console, analytics &amp; reports</a:t>
            </a:r>
            <a:endParaRPr lang="en-US" sz="956" dirty="0"/>
          </a:p>
        </p:txBody>
      </p:sp>
      <p:sp>
        <p:nvSpPr>
          <p:cNvPr id="42" name="Text 36"/>
          <p:cNvSpPr/>
          <p:nvPr/>
        </p:nvSpPr>
        <p:spPr>
          <a:xfrm>
            <a:off x="6196489" y="3474095"/>
            <a:ext cx="228314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B1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18,000</a:t>
            </a:r>
            <a:endParaRPr lang="en-US" sz="1013" dirty="0"/>
          </a:p>
        </p:txBody>
      </p:sp>
      <p:sp>
        <p:nvSpPr>
          <p:cNvPr id="43" name="Text 37"/>
          <p:cNvSpPr/>
          <p:nvPr/>
        </p:nvSpPr>
        <p:spPr>
          <a:xfrm>
            <a:off x="464344" y="3740869"/>
            <a:ext cx="8215313" cy="340668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64369" y="3804047"/>
            <a:ext cx="214313" cy="214313"/>
          </a:xfrm>
          <a:prstGeom prst="ellipse">
            <a:avLst/>
          </a:prstGeom>
          <a:solidFill>
            <a:srgbClr val="1A4FD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64369" y="380404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4FD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46" name="Text 40"/>
          <p:cNvSpPr/>
          <p:nvPr/>
        </p:nvSpPr>
        <p:spPr>
          <a:xfrm>
            <a:off x="1178719" y="3820120"/>
            <a:ext cx="65891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42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</a:t>
            </a:r>
            <a:endParaRPr lang="en-US" sz="956" dirty="0"/>
          </a:p>
        </p:txBody>
      </p:sp>
      <p:sp>
        <p:nvSpPr>
          <p:cNvPr id="47" name="Text 41"/>
          <p:cNvSpPr/>
          <p:nvPr/>
        </p:nvSpPr>
        <p:spPr>
          <a:xfrm>
            <a:off x="5793581" y="3814763"/>
            <a:ext cx="26860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B1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9,000</a:t>
            </a:r>
            <a:endParaRPr lang="en-US" sz="1013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4081537"/>
            <a:ext cx="8215313" cy="51077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42963" y="425834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0" name="Text 43"/>
          <p:cNvSpPr/>
          <p:nvPr/>
        </p:nvSpPr>
        <p:spPr>
          <a:xfrm>
            <a:off x="1178719" y="4240485"/>
            <a:ext cx="59032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platform</a:t>
            </a:r>
            <a:endParaRPr lang="en-US" sz="1013" dirty="0"/>
          </a:p>
        </p:txBody>
      </p:sp>
      <p:sp>
        <p:nvSpPr>
          <p:cNvPr id="51" name="Text 44"/>
          <p:cNvSpPr/>
          <p:nvPr/>
        </p:nvSpPr>
        <p:spPr>
          <a:xfrm>
            <a:off x="7189403" y="4302993"/>
            <a:ext cx="3055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KES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7422466" y="4181549"/>
            <a:ext cx="940339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64,000</a:t>
            </a:r>
            <a:endParaRPr lang="en-US" sz="1631" dirty="0"/>
          </a:p>
        </p:txBody>
      </p:sp>
      <p:sp>
        <p:nvSpPr>
          <p:cNvPr id="53" name="Text 46"/>
          <p:cNvSpPr/>
          <p:nvPr/>
        </p:nvSpPr>
        <p:spPr>
          <a:xfrm>
            <a:off x="8045782" y="4302993"/>
            <a:ext cx="480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one-time</a:t>
            </a:r>
            <a:endParaRPr lang="en-US" sz="731" dirty="0"/>
          </a:p>
        </p:txBody>
      </p:sp>
      <p:sp>
        <p:nvSpPr>
          <p:cNvPr id="54" name="Text 47"/>
          <p:cNvSpPr/>
          <p:nvPr/>
        </p:nvSpPr>
        <p:spPr>
          <a:xfrm>
            <a:off x="457200" y="47070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4FD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55" name="Text 48"/>
          <p:cNvSpPr/>
          <p:nvPr/>
        </p:nvSpPr>
        <p:spPr>
          <a:xfrm>
            <a:off x="628650" y="4699248"/>
            <a:ext cx="805815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28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Recurring: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428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hosting, domain &amp; SSL KES 10,000/yr · support &amp; maintenance KES 36,000/yr · payments 50% / 25% / 25%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1432322" y="1390129"/>
            <a:ext cx="107156" cy="107156"/>
          </a:xfrm>
          <a:prstGeom prst="ellipse">
            <a:avLst/>
          </a:prstGeom>
          <a:solidFill>
            <a:srgbClr val="FFFFFF"/>
          </a:solidFill>
          <a:ln w="35719">
            <a:solidFill>
              <a:srgbClr val="1A4FD0"/>
            </a:solidFill>
            <a:prstDash val="solid"/>
          </a:ln>
          <a:effectLst>
            <a:outerShdw sx="100000" sy="100000" kx="0" ky="0" algn="bl" rotWithShape="0" blurRad="101600" dist="50800" dir="16200000">
              <a:srgbClr val="1A4FD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3489722" y="1390129"/>
            <a:ext cx="107156" cy="107156"/>
          </a:xfrm>
          <a:prstGeom prst="ellipse">
            <a:avLst/>
          </a:prstGeom>
          <a:solidFill>
            <a:srgbClr val="FFFFFF"/>
          </a:solidFill>
          <a:ln w="35719">
            <a:solidFill>
              <a:srgbClr val="1A4FD0"/>
            </a:solidFill>
            <a:prstDash val="solid"/>
          </a:ln>
          <a:effectLst>
            <a:outerShdw sx="100000" sy="100000" kx="0" ky="0" algn="bl" rotWithShape="0" blurRad="101600" dist="50800" dir="16200000">
              <a:srgbClr val="1A4FD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547122" y="1390129"/>
            <a:ext cx="107156" cy="107156"/>
          </a:xfrm>
          <a:prstGeom prst="ellipse">
            <a:avLst/>
          </a:prstGeom>
          <a:solidFill>
            <a:srgbClr val="FFFFFF"/>
          </a:solidFill>
          <a:ln w="35719">
            <a:solidFill>
              <a:srgbClr val="1A4FD0"/>
            </a:solidFill>
            <a:prstDash val="solid"/>
          </a:ln>
          <a:effectLst>
            <a:outerShdw sx="100000" sy="100000" kx="0" ky="0" algn="bl" rotWithShape="0" blurRad="101600" dist="50800" dir="16200000">
              <a:srgbClr val="1A4FD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7604522" y="1390129"/>
            <a:ext cx="107156" cy="107156"/>
          </a:xfrm>
          <a:prstGeom prst="ellipse">
            <a:avLst/>
          </a:prstGeom>
          <a:solidFill>
            <a:srgbClr val="FFFFFF"/>
          </a:solidFill>
          <a:ln w="35719">
            <a:solidFill>
              <a:srgbClr val="1A4FD0"/>
            </a:solidFill>
            <a:prstDash val="solid"/>
          </a:ln>
          <a:effectLst>
            <a:outerShdw sx="100000" sy="100000" kx="0" ky="0" algn="bl" rotWithShape="0" blurRad="101600" dist="50800" dir="16200000">
              <a:srgbClr val="1A4FD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3119832323-5cih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75022" y="175022"/>
            <a:ext cx="8793956" cy="4793456"/>
          </a:xfrm>
          <a:prstGeom prst="roundRect">
            <a:avLst>
              <a:gd name="adj" fmla="val 596"/>
            </a:avLst>
          </a:prstGeom>
          <a:noFill/>
          <a:ln w="7144">
            <a:solidFill>
              <a:srgbClr val="4DA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38675" y="714152"/>
            <a:ext cx="1866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IT LIVE TODAY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74320" y="917749"/>
            <a:ext cx="8595248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feature is live right now.</a:t>
            </a:r>
            <a:endParaRPr lang="en-US" sz="2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537804"/>
            <a:ext cx="2590726" cy="17841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6497" y="1541376"/>
            <a:ext cx="2583582" cy="1777008"/>
          </a:xfrm>
          <a:prstGeom prst="roundRect">
            <a:avLst>
              <a:gd name="adj" fmla="val 8576"/>
            </a:avLst>
          </a:prstGeom>
          <a:solidFill>
            <a:srgbClr val="0B1F3F">
              <a:alpha val="4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21519" y="170211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4DA8D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48486" y="172907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77" dirty="0"/>
          </a:p>
        </p:txBody>
      </p:sp>
      <p:sp>
        <p:nvSpPr>
          <p:cNvPr id="11" name="Text 7"/>
          <p:cNvSpPr/>
          <p:nvPr/>
        </p:nvSpPr>
        <p:spPr>
          <a:xfrm>
            <a:off x="1085850" y="1746758"/>
            <a:ext cx="186920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Administrator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721519" y="2087873"/>
            <a:ext cx="22335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21519" y="2227176"/>
            <a:ext cx="223353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admin@kipskitui.com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21519" y="2477207"/>
            <a:ext cx="22335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21519" y="2616510"/>
            <a:ext cx="22335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7" kern="0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Admin@123</a:t>
            </a:r>
            <a:endParaRPr lang="en-US" sz="1069" dirty="0"/>
          </a:p>
        </p:txBody>
      </p:sp>
      <p:sp>
        <p:nvSpPr>
          <p:cNvPr id="16" name="Text 12"/>
          <p:cNvSpPr/>
          <p:nvPr/>
        </p:nvSpPr>
        <p:spPr>
          <a:xfrm>
            <a:off x="721519" y="2920119"/>
            <a:ext cx="2233538" cy="7144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21519" y="3012988"/>
            <a:ext cx="22335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analytics, students, admissions, payments, exports</a:t>
            </a:r>
            <a:endParaRPr lang="en-US" sz="759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26" y="1537804"/>
            <a:ext cx="2590837" cy="17841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80097" y="1541376"/>
            <a:ext cx="2583693" cy="1777008"/>
          </a:xfrm>
          <a:prstGeom prst="roundRect">
            <a:avLst>
              <a:gd name="adj" fmla="val 8576"/>
            </a:avLst>
          </a:prstGeom>
          <a:solidFill>
            <a:srgbClr val="0B1F3F">
              <a:alpha val="4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455119" y="170211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4DA8D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482087" y="172907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77" dirty="0"/>
          </a:p>
        </p:txBody>
      </p:sp>
      <p:sp>
        <p:nvSpPr>
          <p:cNvPr id="22" name="Text 17"/>
          <p:cNvSpPr/>
          <p:nvPr/>
        </p:nvSpPr>
        <p:spPr>
          <a:xfrm>
            <a:off x="3819451" y="1746758"/>
            <a:ext cx="186931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Lecturer</a:t>
            </a:r>
            <a:endParaRPr lang="en-US" sz="956" dirty="0"/>
          </a:p>
        </p:txBody>
      </p:sp>
      <p:sp>
        <p:nvSpPr>
          <p:cNvPr id="23" name="Text 18"/>
          <p:cNvSpPr/>
          <p:nvPr/>
        </p:nvSpPr>
        <p:spPr>
          <a:xfrm>
            <a:off x="3455119" y="2087873"/>
            <a:ext cx="223365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455119" y="2227176"/>
            <a:ext cx="2233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lecturer@kipskitui.com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455119" y="2477207"/>
            <a:ext cx="223365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455119" y="2616510"/>
            <a:ext cx="223365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7" kern="0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Lecturer@123</a:t>
            </a:r>
            <a:endParaRPr lang="en-US" sz="1069" dirty="0"/>
          </a:p>
        </p:txBody>
      </p:sp>
      <p:sp>
        <p:nvSpPr>
          <p:cNvPr id="27" name="Text 22"/>
          <p:cNvSpPr/>
          <p:nvPr/>
        </p:nvSpPr>
        <p:spPr>
          <a:xfrm>
            <a:off x="3455119" y="2920119"/>
            <a:ext cx="2233650" cy="7144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55119" y="3012988"/>
            <a:ext cx="23433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classes, marks, analytics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38" y="1537804"/>
            <a:ext cx="2590726" cy="17841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013810" y="1541376"/>
            <a:ext cx="2583582" cy="1777008"/>
          </a:xfrm>
          <a:prstGeom prst="roundRect">
            <a:avLst>
              <a:gd name="adj" fmla="val 8576"/>
            </a:avLst>
          </a:prstGeom>
          <a:solidFill>
            <a:srgbClr val="0B1F3F">
              <a:alpha val="4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188832" y="170211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4DA8D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215799" y="172907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33" name="Text 27"/>
          <p:cNvSpPr/>
          <p:nvPr/>
        </p:nvSpPr>
        <p:spPr>
          <a:xfrm>
            <a:off x="6553163" y="1746758"/>
            <a:ext cx="186920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</a:t>
            </a:r>
            <a:endParaRPr lang="en-US" sz="956" dirty="0"/>
          </a:p>
        </p:txBody>
      </p:sp>
      <p:sp>
        <p:nvSpPr>
          <p:cNvPr id="34" name="Text 28"/>
          <p:cNvSpPr/>
          <p:nvPr/>
        </p:nvSpPr>
        <p:spPr>
          <a:xfrm>
            <a:off x="6188832" y="2087873"/>
            <a:ext cx="22335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188832" y="2227176"/>
            <a:ext cx="223353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student@kipskitui.com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188832" y="2477207"/>
            <a:ext cx="22335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C9D8E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188832" y="2616510"/>
            <a:ext cx="22335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7" kern="0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Student@123</a:t>
            </a:r>
            <a:endParaRPr lang="en-US" sz="1069" dirty="0"/>
          </a:p>
        </p:txBody>
      </p:sp>
      <p:sp>
        <p:nvSpPr>
          <p:cNvPr id="38" name="Text 32"/>
          <p:cNvSpPr/>
          <p:nvPr/>
        </p:nvSpPr>
        <p:spPr>
          <a:xfrm>
            <a:off x="6188832" y="2920119"/>
            <a:ext cx="2233538" cy="7144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188832" y="3012988"/>
            <a:ext cx="234326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fees, results, ID card, AI Study Buddy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2473189" y="3554127"/>
            <a:ext cx="4197623" cy="350044"/>
          </a:xfrm>
          <a:prstGeom prst="roundRect">
            <a:avLst>
              <a:gd name="adj" fmla="val 2718365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2705360" y="36684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95" dirty="0"/>
          </a:p>
        </p:txBody>
      </p:sp>
      <p:sp>
        <p:nvSpPr>
          <p:cNvPr id="42" name="Text 36"/>
          <p:cNvSpPr/>
          <p:nvPr/>
        </p:nvSpPr>
        <p:spPr>
          <a:xfrm>
            <a:off x="2818831" y="3648782"/>
            <a:ext cx="52817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</a:t>
            </a:r>
            <a:endParaRPr lang="en-US" sz="844" dirty="0"/>
          </a:p>
        </p:txBody>
      </p:sp>
      <p:sp>
        <p:nvSpPr>
          <p:cNvPr id="43" name="Text 37"/>
          <p:cNvSpPr/>
          <p:nvPr/>
        </p:nvSpPr>
        <p:spPr>
          <a:xfrm>
            <a:off x="3327615" y="3643424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3448534" y="36684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45" name="Text 39"/>
          <p:cNvSpPr/>
          <p:nvPr/>
        </p:nvSpPr>
        <p:spPr>
          <a:xfrm>
            <a:off x="3529026" y="3648782"/>
            <a:ext cx="112388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Explore the demo</a:t>
            </a:r>
            <a:endParaRPr lang="en-US" sz="844" dirty="0"/>
          </a:p>
        </p:txBody>
      </p:sp>
      <p:sp>
        <p:nvSpPr>
          <p:cNvPr id="46" name="Text 40"/>
          <p:cNvSpPr/>
          <p:nvPr/>
        </p:nvSpPr>
        <p:spPr>
          <a:xfrm>
            <a:off x="4600542" y="3643424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4721461" y="36684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48" name="Text 42"/>
          <p:cNvSpPr/>
          <p:nvPr/>
        </p:nvSpPr>
        <p:spPr>
          <a:xfrm>
            <a:off x="4844690" y="3648782"/>
            <a:ext cx="37147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</a:t>
            </a:r>
            <a:endParaRPr lang="en-US" sz="844" dirty="0"/>
          </a:p>
        </p:txBody>
      </p:sp>
      <p:sp>
        <p:nvSpPr>
          <p:cNvPr id="49" name="Text 43"/>
          <p:cNvSpPr/>
          <p:nvPr/>
        </p:nvSpPr>
        <p:spPr>
          <a:xfrm>
            <a:off x="5095882" y="3648782"/>
            <a:ext cx="134275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9D8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go live in four weeks.</a:t>
            </a:r>
            <a:endParaRPr lang="en-US" sz="844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863" y="4227426"/>
            <a:ext cx="328613" cy="10716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3410727" y="4093480"/>
            <a:ext cx="2322434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i="1" dirty="0">
                <a:solidFill>
                  <a:srgbClr val="D9A44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Training for Excellence.</a:t>
            </a:r>
            <a:endParaRPr lang="en-US" sz="1463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413" y="4227426"/>
            <a:ext cx="328613" cy="10716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7171544" y="4772025"/>
            <a:ext cx="18216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56" kern="0" dirty="0">
                <a:solidFill>
                  <a:srgbClr val="C9D8EA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 · Ref KIP/WEB/2026/01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2026-10-27T16:50:37Z</dcterms:created>
  <dcterms:modified xsi:type="dcterms:W3CDTF">2026-10-27T16:50:37Z</dcterms:modified>
</cp:coreProperties>
</file>