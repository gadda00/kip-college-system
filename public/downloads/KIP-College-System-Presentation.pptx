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000500" cy="4000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4000500" cy="4000500"/>
          </a:xfrm>
          <a:prstGeom prst="ellipse">
            <a:avLst/>
          </a:prstGeom>
          <a:solidFill>
            <a:srgbClr val="2D7AB3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1143000"/>
            <a:ext cx="4000500" cy="4000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143500" y="1143000"/>
            <a:ext cx="4000500" cy="4000500"/>
          </a:xfrm>
          <a:prstGeom prst="ellipse">
            <a:avLst/>
          </a:prstGeom>
          <a:solidFill>
            <a:srgbClr val="4DA8DA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321469" y="250031"/>
            <a:ext cx="8501063" cy="4643438"/>
          </a:xfrm>
          <a:prstGeom prst="roundRect">
            <a:avLst>
              <a:gd name="adj" fmla="val 821"/>
            </a:avLst>
          </a:prstGeom>
          <a:noFill/>
          <a:ln w="14288">
            <a:solidFill>
              <a:srgbClr val="4DA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785813" y="628650"/>
            <a:ext cx="83581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281" kern="0" dirty="0">
                <a:solidFill>
                  <a:srgbClr val="4DA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PLATFORM PROPOSAL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785813" y="964406"/>
            <a:ext cx="6757988" cy="1071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6"/>
              </a:lnSpc>
              <a:buNone/>
            </a:pPr>
            <a:r>
              <a:rPr lang="en-US" sz="3488" b="1" dirty="0">
                <a:solidFill>
                  <a:srgbClr val="E8F0F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Kitui Institute</a:t>
            </a:r>
            <a:endParaRPr lang="en-US" sz="3488" dirty="0"/>
          </a:p>
          <a:p>
            <a:pPr algn="l" indent="0" marL="0">
              <a:lnSpc>
                <a:spcPts val="3906"/>
              </a:lnSpc>
              <a:buNone/>
            </a:pPr>
            <a:r>
              <a:rPr lang="en-US" sz="3488" b="1" dirty="0">
                <a:solidFill>
                  <a:srgbClr val="E8F0F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of Professionals</a:t>
            </a:r>
            <a:endParaRPr lang="en-US" sz="3488" dirty="0"/>
          </a:p>
        </p:txBody>
      </p:sp>
      <p:sp>
        <p:nvSpPr>
          <p:cNvPr id="9" name="Text 5"/>
          <p:cNvSpPr/>
          <p:nvPr/>
        </p:nvSpPr>
        <p:spPr>
          <a:xfrm>
            <a:off x="785813" y="2156520"/>
            <a:ext cx="600075" cy="28575"/>
          </a:xfrm>
          <a:prstGeom prst="roundRect">
            <a:avLst>
              <a:gd name="adj" fmla="val 66667"/>
            </a:avLst>
          </a:prstGeom>
          <a:solidFill>
            <a:srgbClr val="4DA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785813" y="2370832"/>
            <a:ext cx="5572125" cy="51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181" dirty="0">
                <a:solidFill>
                  <a:srgbClr val="7A9B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integrated college management system — public website, online admissions, student and lecturer portals, an administrative console, and an AI study assistant.</a:t>
            </a:r>
            <a:endParaRPr lang="en-US" sz="1181" dirty="0"/>
          </a:p>
        </p:txBody>
      </p:sp>
      <p:sp>
        <p:nvSpPr>
          <p:cNvPr id="11" name="Text 7"/>
          <p:cNvSpPr/>
          <p:nvPr/>
        </p:nvSpPr>
        <p:spPr>
          <a:xfrm>
            <a:off x="762953" y="3052471"/>
            <a:ext cx="1494115" cy="236030"/>
          </a:xfrm>
          <a:prstGeom prst="roundRect">
            <a:avLst>
              <a:gd name="adj" fmla="val 4031468"/>
            </a:avLst>
          </a:prstGeom>
          <a:noFill/>
          <a:ln w="7144">
            <a:solidFill>
              <a:srgbClr val="4DA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892969" y="3109764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4DA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195" dirty="0"/>
          </a:p>
        </p:txBody>
      </p:sp>
      <p:sp>
        <p:nvSpPr>
          <p:cNvPr id="13" name="Text 9"/>
          <p:cNvSpPr/>
          <p:nvPr/>
        </p:nvSpPr>
        <p:spPr>
          <a:xfrm>
            <a:off x="1057275" y="3100834"/>
            <a:ext cx="106977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13" kern="0" dirty="0">
                <a:solidFill>
                  <a:srgbClr val="4DA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DEMO INSIDE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785813" y="4375547"/>
            <a:ext cx="413399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69" kern="0" dirty="0">
                <a:solidFill>
                  <a:srgbClr val="7A9B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OCTOBER 2026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4934099" y="4375547"/>
            <a:ext cx="420990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69" kern="0" dirty="0">
                <a:solidFill>
                  <a:srgbClr val="7A9B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PREPARED FOR KITUI INSTITUTE OF PROFESSIONALS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649188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A4A7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985838" y="514350"/>
            <a:ext cx="3335908" cy="1493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281" kern="0" dirty="0">
                <a:solidFill>
                  <a:srgbClr val="2D7A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AGENDA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85838" y="691158"/>
            <a:ext cx="2335136" cy="439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6"/>
              </a:lnSpc>
              <a:buNone/>
            </a:pPr>
            <a:r>
              <a:rPr lang="en-US" sz="2138" b="1" dirty="0">
                <a:solidFill>
                  <a:srgbClr val="1A4A7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What we will cover</a:t>
            </a:r>
            <a:endParaRPr lang="en-US" sz="2138" dirty="0"/>
          </a:p>
        </p:txBody>
      </p:sp>
      <p:sp>
        <p:nvSpPr>
          <p:cNvPr id="5" name="Text 3"/>
          <p:cNvSpPr/>
          <p:nvPr/>
        </p:nvSpPr>
        <p:spPr>
          <a:xfrm>
            <a:off x="571500" y="1226939"/>
            <a:ext cx="600075" cy="28575"/>
          </a:xfrm>
          <a:prstGeom prst="roundRect">
            <a:avLst>
              <a:gd name="adj" fmla="val 66667"/>
            </a:avLst>
          </a:prstGeom>
          <a:solidFill>
            <a:srgbClr val="2D7AB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1500" y="1498402"/>
            <a:ext cx="45720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D7AB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71550" y="1535906"/>
            <a:ext cx="3443288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About KIP College</a:t>
            </a:r>
            <a:endParaRPr lang="en-US" sz="956" dirty="0"/>
          </a:p>
        </p:txBody>
      </p:sp>
      <p:sp>
        <p:nvSpPr>
          <p:cNvPr id="8" name="Text 6"/>
          <p:cNvSpPr/>
          <p:nvPr/>
        </p:nvSpPr>
        <p:spPr>
          <a:xfrm>
            <a:off x="4729163" y="1498402"/>
            <a:ext cx="45720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D7AB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129213" y="1535906"/>
            <a:ext cx="3443288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challenge and the opportunity</a:t>
            </a:r>
            <a:endParaRPr lang="en-US" sz="956" dirty="0"/>
          </a:p>
        </p:txBody>
      </p:sp>
      <p:sp>
        <p:nvSpPr>
          <p:cNvPr id="10" name="Text 8"/>
          <p:cNvSpPr/>
          <p:nvPr/>
        </p:nvSpPr>
        <p:spPr>
          <a:xfrm>
            <a:off x="571500" y="1884164"/>
            <a:ext cx="45720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D7AB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71550" y="1921669"/>
            <a:ext cx="3443288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solution at a glance</a:t>
            </a:r>
            <a:endParaRPr lang="en-US" sz="956" dirty="0"/>
          </a:p>
        </p:txBody>
      </p:sp>
      <p:sp>
        <p:nvSpPr>
          <p:cNvPr id="12" name="Text 10"/>
          <p:cNvSpPr/>
          <p:nvPr/>
        </p:nvSpPr>
        <p:spPr>
          <a:xfrm>
            <a:off x="4729163" y="1884164"/>
            <a:ext cx="45720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D7AB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129213" y="1921669"/>
            <a:ext cx="3443288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demo — see it running today</a:t>
            </a:r>
            <a:endParaRPr lang="en-US" sz="956" dirty="0"/>
          </a:p>
        </p:txBody>
      </p:sp>
      <p:sp>
        <p:nvSpPr>
          <p:cNvPr id="14" name="Text 12"/>
          <p:cNvSpPr/>
          <p:nvPr/>
        </p:nvSpPr>
        <p:spPr>
          <a:xfrm>
            <a:off x="571500" y="2269927"/>
            <a:ext cx="45720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D7AB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71550" y="2307431"/>
            <a:ext cx="3443288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 tour</a:t>
            </a:r>
            <a:endParaRPr lang="en-US" sz="956" dirty="0"/>
          </a:p>
        </p:txBody>
      </p:sp>
      <p:sp>
        <p:nvSpPr>
          <p:cNvPr id="16" name="Text 14"/>
          <p:cNvSpPr/>
          <p:nvPr/>
        </p:nvSpPr>
        <p:spPr>
          <a:xfrm>
            <a:off x="4729163" y="2269927"/>
            <a:ext cx="45720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D7AB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129213" y="2307431"/>
            <a:ext cx="3443288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Technology and security</a:t>
            </a:r>
            <a:endParaRPr lang="en-US" sz="956" dirty="0"/>
          </a:p>
        </p:txBody>
      </p:sp>
      <p:sp>
        <p:nvSpPr>
          <p:cNvPr id="18" name="Text 16"/>
          <p:cNvSpPr/>
          <p:nvPr/>
        </p:nvSpPr>
        <p:spPr>
          <a:xfrm>
            <a:off x="571500" y="2655689"/>
            <a:ext cx="45720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D7AB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71550" y="2693194"/>
            <a:ext cx="3443288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Investment, recurring costs and timeline</a:t>
            </a:r>
            <a:endParaRPr lang="en-US" sz="956" dirty="0"/>
          </a:p>
        </p:txBody>
      </p:sp>
      <p:sp>
        <p:nvSpPr>
          <p:cNvPr id="20" name="Text 18"/>
          <p:cNvSpPr/>
          <p:nvPr/>
        </p:nvSpPr>
        <p:spPr>
          <a:xfrm>
            <a:off x="4729163" y="2655689"/>
            <a:ext cx="45720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D7AB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129213" y="2693194"/>
            <a:ext cx="3443288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this platform and next steps</a:t>
            </a:r>
            <a:endParaRPr lang="en-US" sz="956" dirty="0"/>
          </a:p>
        </p:txBody>
      </p:sp>
      <p:sp>
        <p:nvSpPr>
          <p:cNvPr id="22" name="Text 20"/>
          <p:cNvSpPr/>
          <p:nvPr/>
        </p:nvSpPr>
        <p:spPr>
          <a:xfrm>
            <a:off x="575072" y="3202186"/>
            <a:ext cx="7993856" cy="391120"/>
          </a:xfrm>
          <a:prstGeom prst="roundRect">
            <a:avLst>
              <a:gd name="adj" fmla="val 34094"/>
            </a:avLst>
          </a:prstGeom>
          <a:solidFill>
            <a:srgbClr val="E4ECF5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35806" y="334059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A4A7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935831" y="3320058"/>
            <a:ext cx="7472363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platform is already built and deployed — everything in this deck can be tested live today.</a:t>
            </a:r>
            <a:endParaRPr lang="en-US" sz="81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57200"/>
            <a:ext cx="8572500" cy="1636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281" kern="0" dirty="0">
                <a:solidFill>
                  <a:srgbClr val="2D7A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ABOUT THE INSTITUTION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71500" y="648295"/>
            <a:ext cx="8572500" cy="439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6"/>
              </a:lnSpc>
              <a:buNone/>
            </a:pPr>
            <a:r>
              <a:rPr lang="en-US" sz="2138" b="1" dirty="0">
                <a:solidFill>
                  <a:srgbClr val="1A4A7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Kitui Institute of Professionals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571500" y="1155502"/>
            <a:ext cx="600075" cy="28575"/>
          </a:xfrm>
          <a:prstGeom prst="roundRect">
            <a:avLst>
              <a:gd name="adj" fmla="val 66667"/>
            </a:avLst>
          </a:prstGeom>
          <a:solidFill>
            <a:srgbClr val="2D7AB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1369814"/>
            <a:ext cx="4011327" cy="174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50"/>
              </a:lnSpc>
              <a:spcAft>
                <a:spcPts val="900"/>
              </a:spcAft>
              <a:buSzPct val="100000"/>
              <a:buChar char="•"/>
            </a:pPr>
            <a:r>
              <a:rPr lang="en-US" sz="9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▿Tertiary college serving Kitui County and eastern Kenya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900"/>
              </a:spcAft>
              <a:buSzPct val="100000"/>
              <a:buChar char="•"/>
            </a:pPr>
            <a:r>
              <a:rPr lang="en-US" sz="9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▣21+ programmes across 3 categories: Technical (ICT, engineering, hairdressing &amp; beauty), Business, and KASNEB professional (CPA, CAMS/ATD)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900"/>
              </a:spcAft>
              <a:buSzPct val="100000"/>
              <a:buChar char="•"/>
            </a:pPr>
            <a:r>
              <a:rPr lang="en-US" sz="9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✓Examined by KASNEB, KNEC, NITA and TVET-CDACC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900"/>
              </a:spcAft>
              <a:buSzPct val="100000"/>
              <a:buChar char="•"/>
            </a:pPr>
            <a:r>
              <a:rPr lang="en-US" sz="9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🏛Three campuses, one college — a central system keeps every location on the same page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929299" y="1373386"/>
            <a:ext cx="3639629" cy="567928"/>
          </a:xfrm>
          <a:prstGeom prst="roundRect">
            <a:avLst>
              <a:gd name="adj" fmla="val 23480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61458" y="1500188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A4A7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5475796" y="1491258"/>
            <a:ext cx="2169387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1A4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Main Campus</a:t>
            </a:r>
            <a:endParaRPr lang="en-US" sz="956" dirty="0"/>
          </a:p>
        </p:txBody>
      </p:sp>
      <p:sp>
        <p:nvSpPr>
          <p:cNvPr id="9" name="Text 7"/>
          <p:cNvSpPr/>
          <p:nvPr/>
        </p:nvSpPr>
        <p:spPr>
          <a:xfrm>
            <a:off x="5475796" y="1673423"/>
            <a:ext cx="1999094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100 m from Wikililye, Mulango Road, Kitui</a:t>
            </a:r>
            <a:endParaRPr lang="en-US" sz="788" dirty="0"/>
          </a:p>
        </p:txBody>
      </p:sp>
      <p:sp>
        <p:nvSpPr>
          <p:cNvPr id="10" name="Text 8"/>
          <p:cNvSpPr/>
          <p:nvPr/>
        </p:nvSpPr>
        <p:spPr>
          <a:xfrm>
            <a:off x="4929299" y="2048470"/>
            <a:ext cx="3639629" cy="567928"/>
          </a:xfrm>
          <a:prstGeom prst="roundRect">
            <a:avLst>
              <a:gd name="adj" fmla="val 23480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61458" y="2175272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A4A7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5475796" y="2166342"/>
            <a:ext cx="1485329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1A4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Town Campus</a:t>
            </a:r>
            <a:endParaRPr lang="en-US" sz="956" dirty="0"/>
          </a:p>
        </p:txBody>
      </p:sp>
      <p:sp>
        <p:nvSpPr>
          <p:cNvPr id="13" name="Text 11"/>
          <p:cNvSpPr/>
          <p:nvPr/>
        </p:nvSpPr>
        <p:spPr>
          <a:xfrm>
            <a:off x="5475796" y="2348508"/>
            <a:ext cx="1368734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Muli Mall Building, Kitui CBD</a:t>
            </a:r>
            <a:endParaRPr lang="en-US" sz="788" dirty="0"/>
          </a:p>
        </p:txBody>
      </p:sp>
      <p:sp>
        <p:nvSpPr>
          <p:cNvPr id="14" name="Text 12"/>
          <p:cNvSpPr/>
          <p:nvPr/>
        </p:nvSpPr>
        <p:spPr>
          <a:xfrm>
            <a:off x="4929299" y="2723555"/>
            <a:ext cx="3639629" cy="567928"/>
          </a:xfrm>
          <a:prstGeom prst="roundRect">
            <a:avLst>
              <a:gd name="adj" fmla="val 23480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061458" y="2850356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A4A7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5475796" y="2841427"/>
            <a:ext cx="1581090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1A4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Mwingi Campus</a:t>
            </a:r>
            <a:endParaRPr lang="en-US" sz="956" dirty="0"/>
          </a:p>
        </p:txBody>
      </p:sp>
      <p:sp>
        <p:nvSpPr>
          <p:cNvPr id="17" name="Text 15"/>
          <p:cNvSpPr/>
          <p:nvPr/>
        </p:nvSpPr>
        <p:spPr>
          <a:xfrm>
            <a:off x="5475796" y="3023592"/>
            <a:ext cx="1456977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Sunrise Building, Mwingi Town</a:t>
            </a:r>
            <a:endParaRPr lang="en-US" sz="788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57200"/>
            <a:ext cx="8572500" cy="1636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281" kern="0" dirty="0">
                <a:solidFill>
                  <a:srgbClr val="2D7A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CHALLENGE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71500" y="648295"/>
            <a:ext cx="8572500" cy="439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6"/>
              </a:lnSpc>
              <a:buNone/>
            </a:pPr>
            <a:r>
              <a:rPr lang="en-US" sz="2138" b="1" dirty="0">
                <a:solidFill>
                  <a:srgbClr val="1A4A7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Manual processes slow the college down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571500" y="1155502"/>
            <a:ext cx="600075" cy="28575"/>
          </a:xfrm>
          <a:prstGeom prst="roundRect">
            <a:avLst>
              <a:gd name="adj" fmla="val 66667"/>
            </a:avLst>
          </a:prstGeom>
          <a:solidFill>
            <a:srgbClr val="2D7AB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5072" y="1373386"/>
            <a:ext cx="3921919" cy="625078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1519" y="1505545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A4A7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1150144" y="1505545"/>
            <a:ext cx="3017487" cy="183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Paper applications</a:t>
            </a:r>
            <a:endParaRPr lang="en-US" sz="956" dirty="0"/>
          </a:p>
        </p:txBody>
      </p:sp>
      <p:sp>
        <p:nvSpPr>
          <p:cNvPr id="8" name="Text 6"/>
          <p:cNvSpPr/>
          <p:nvPr/>
        </p:nvSpPr>
        <p:spPr>
          <a:xfrm>
            <a:off x="1150144" y="1716286"/>
            <a:ext cx="2873797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Forms travel to campus; no tracking reference, no status visibility</a:t>
            </a:r>
            <a:endParaRPr lang="en-US" sz="788" dirty="0"/>
          </a:p>
        </p:txBody>
      </p:sp>
      <p:sp>
        <p:nvSpPr>
          <p:cNvPr id="9" name="Text 7"/>
          <p:cNvSpPr/>
          <p:nvPr/>
        </p:nvSpPr>
        <p:spPr>
          <a:xfrm>
            <a:off x="4647009" y="1373386"/>
            <a:ext cx="3921919" cy="625078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93456" y="1505545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A4A7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5222081" y="1505545"/>
            <a:ext cx="2457612" cy="183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Manual fee records</a:t>
            </a:r>
            <a:endParaRPr lang="en-US" sz="956" dirty="0"/>
          </a:p>
        </p:txBody>
      </p:sp>
      <p:sp>
        <p:nvSpPr>
          <p:cNvPr id="12" name="Text 10"/>
          <p:cNvSpPr/>
          <p:nvPr/>
        </p:nvSpPr>
        <p:spPr>
          <a:xfrm>
            <a:off x="5222081" y="1716286"/>
            <a:ext cx="234058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Balances reconciled by hand across three campuses</a:t>
            </a:r>
            <a:endParaRPr lang="en-US" sz="788" dirty="0"/>
          </a:p>
        </p:txBody>
      </p:sp>
      <p:sp>
        <p:nvSpPr>
          <p:cNvPr id="13" name="Text 11"/>
          <p:cNvSpPr/>
          <p:nvPr/>
        </p:nvSpPr>
        <p:spPr>
          <a:xfrm>
            <a:off x="575072" y="2148483"/>
            <a:ext cx="3921919" cy="625078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21519" y="2280642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A4A7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⎘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1150144" y="2280642"/>
            <a:ext cx="2765033" cy="183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Results on paper</a:t>
            </a:r>
            <a:endParaRPr lang="en-US" sz="956" dirty="0"/>
          </a:p>
        </p:txBody>
      </p:sp>
      <p:sp>
        <p:nvSpPr>
          <p:cNvPr id="16" name="Text 14"/>
          <p:cNvSpPr/>
          <p:nvPr/>
        </p:nvSpPr>
        <p:spPr>
          <a:xfrm>
            <a:off x="1150144" y="2491383"/>
            <a:ext cx="263336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Marks copied and re-copied between offices and campuses</a:t>
            </a:r>
            <a:endParaRPr lang="en-US" sz="788" dirty="0"/>
          </a:p>
        </p:txBody>
      </p:sp>
      <p:sp>
        <p:nvSpPr>
          <p:cNvPr id="17" name="Text 15"/>
          <p:cNvSpPr/>
          <p:nvPr/>
        </p:nvSpPr>
        <p:spPr>
          <a:xfrm>
            <a:off x="4647009" y="2148483"/>
            <a:ext cx="3921919" cy="625078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93456" y="2280642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A4A7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5222081" y="2280642"/>
            <a:ext cx="2889267" cy="183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Office-hours only</a:t>
            </a:r>
            <a:endParaRPr lang="en-US" sz="956" dirty="0"/>
          </a:p>
        </p:txBody>
      </p:sp>
      <p:sp>
        <p:nvSpPr>
          <p:cNvPr id="20" name="Text 18"/>
          <p:cNvSpPr/>
          <p:nvPr/>
        </p:nvSpPr>
        <p:spPr>
          <a:xfrm>
            <a:off x="5222081" y="2491383"/>
            <a:ext cx="275168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Families cannot check progress without travelling to a campus</a:t>
            </a:r>
            <a:endParaRPr lang="en-US" sz="788" dirty="0"/>
          </a:p>
        </p:txBody>
      </p:sp>
      <p:sp>
        <p:nvSpPr>
          <p:cNvPr id="21" name="Text 19"/>
          <p:cNvSpPr/>
          <p:nvPr/>
        </p:nvSpPr>
        <p:spPr>
          <a:xfrm>
            <a:off x="571500" y="2948583"/>
            <a:ext cx="8001000" cy="575072"/>
          </a:xfrm>
          <a:prstGeom prst="roundRect">
            <a:avLst>
              <a:gd name="adj" fmla="val 23188"/>
            </a:avLst>
          </a:prstGeom>
          <a:solidFill>
            <a:srgbClr val="E4EC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71500" y="2952155"/>
            <a:ext cx="8001000" cy="0"/>
          </a:xfrm>
          <a:prstGeom prst="line">
            <a:avLst/>
          </a:prstGeom>
          <a:noFill/>
          <a:ln w="7144">
            <a:solidFill>
              <a:srgbClr val="C0D0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68928" y="2948583"/>
            <a:ext cx="0" cy="575072"/>
          </a:xfrm>
          <a:prstGeom prst="line">
            <a:avLst/>
          </a:prstGeom>
          <a:noFill/>
          <a:ln w="7144">
            <a:solidFill>
              <a:srgbClr val="C0D0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1500" y="3520083"/>
            <a:ext cx="8001000" cy="0"/>
          </a:xfrm>
          <a:prstGeom prst="line">
            <a:avLst/>
          </a:prstGeom>
          <a:noFill/>
          <a:ln w="7144">
            <a:solidFill>
              <a:srgbClr val="C0D0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5788" y="2948583"/>
            <a:ext cx="0" cy="575072"/>
          </a:xfrm>
          <a:prstGeom prst="line">
            <a:avLst/>
          </a:prstGeom>
          <a:noFill/>
          <a:ln w="28575">
            <a:solidFill>
              <a:srgbClr val="2D7AB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7238" y="3178969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971550" y="3070027"/>
            <a:ext cx="7436644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opportunity: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students and parents live on their phones. A college that answers at midnight and accepts applications on Sunday wins the next intake.</a:t>
            </a:r>
            <a:endParaRPr lang="en-US" sz="87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28625"/>
            <a:ext cx="8572500" cy="1636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281" kern="0" dirty="0">
                <a:solidFill>
                  <a:srgbClr val="2D7A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71500" y="619720"/>
            <a:ext cx="8572500" cy="439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6"/>
              </a:lnSpc>
              <a:buNone/>
            </a:pPr>
            <a:r>
              <a:rPr lang="en-US" sz="2138" b="1" dirty="0">
                <a:solidFill>
                  <a:srgbClr val="1A4A7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One platform, six modules, one database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571500" y="1126927"/>
            <a:ext cx="600075" cy="28575"/>
          </a:xfrm>
          <a:prstGeom prst="roundRect">
            <a:avLst>
              <a:gd name="adj" fmla="val 66667"/>
            </a:avLst>
          </a:prstGeom>
          <a:solidFill>
            <a:srgbClr val="2D7AB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5072" y="1330523"/>
            <a:ext cx="2583582" cy="971550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07231" y="1448395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A4A7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707231" y="1834158"/>
            <a:ext cx="2319263" cy="1779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b="1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Public website</a:t>
            </a:r>
            <a:endParaRPr lang="en-US" sz="928" dirty="0"/>
          </a:p>
        </p:txBody>
      </p:sp>
      <p:sp>
        <p:nvSpPr>
          <p:cNvPr id="8" name="Text 6"/>
          <p:cNvSpPr/>
          <p:nvPr/>
        </p:nvSpPr>
        <p:spPr>
          <a:xfrm>
            <a:off x="707231" y="2039541"/>
            <a:ext cx="2428991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Programmes, campuses, news, contact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80097" y="1330523"/>
            <a:ext cx="2583693" cy="971550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12257" y="1448395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A4A7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3412257" y="1834158"/>
            <a:ext cx="2319375" cy="1779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b="1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Online admissions</a:t>
            </a:r>
            <a:endParaRPr lang="en-US" sz="928" dirty="0"/>
          </a:p>
        </p:txBody>
      </p:sp>
      <p:sp>
        <p:nvSpPr>
          <p:cNvPr id="12" name="Text 10"/>
          <p:cNvSpPr/>
          <p:nvPr/>
        </p:nvSpPr>
        <p:spPr>
          <a:xfrm>
            <a:off x="3412257" y="2039541"/>
            <a:ext cx="2319375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Guided wizard, unique application reference numbers</a:t>
            </a:r>
            <a:endParaRPr lang="en-US" sz="759" dirty="0"/>
          </a:p>
        </p:txBody>
      </p:sp>
      <p:sp>
        <p:nvSpPr>
          <p:cNvPr id="13" name="Text 11"/>
          <p:cNvSpPr/>
          <p:nvPr/>
        </p:nvSpPr>
        <p:spPr>
          <a:xfrm>
            <a:off x="5985235" y="1330523"/>
            <a:ext cx="2583582" cy="971550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17394" y="1448395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A4A7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▿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6117394" y="1834158"/>
            <a:ext cx="2319263" cy="1779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b="1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Student portal</a:t>
            </a:r>
            <a:endParaRPr lang="en-US" sz="928" dirty="0"/>
          </a:p>
        </p:txBody>
      </p:sp>
      <p:sp>
        <p:nvSpPr>
          <p:cNvPr id="16" name="Text 14"/>
          <p:cNvSpPr/>
          <p:nvPr/>
        </p:nvSpPr>
        <p:spPr>
          <a:xfrm>
            <a:off x="6117394" y="2039541"/>
            <a:ext cx="2428991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Fees, results, timetable, materials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75072" y="2423517"/>
            <a:ext cx="2583582" cy="1116211"/>
          </a:xfrm>
          <a:prstGeom prst="roundRect">
            <a:avLst>
              <a:gd name="adj" fmla="val 11947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07231" y="2541389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A4A7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707231" y="2927152"/>
            <a:ext cx="2319263" cy="1779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b="1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Lecturer workspace</a:t>
            </a:r>
            <a:endParaRPr lang="en-US" sz="928" dirty="0"/>
          </a:p>
        </p:txBody>
      </p:sp>
      <p:sp>
        <p:nvSpPr>
          <p:cNvPr id="20" name="Text 18"/>
          <p:cNvSpPr/>
          <p:nvPr/>
        </p:nvSpPr>
        <p:spPr>
          <a:xfrm>
            <a:off x="707231" y="3132534"/>
            <a:ext cx="24289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Rosters, marks entry with draft-to-publish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280097" y="2423517"/>
            <a:ext cx="2583693" cy="1116211"/>
          </a:xfrm>
          <a:prstGeom prst="roundRect">
            <a:avLst>
              <a:gd name="adj" fmla="val 11947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412257" y="2541389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A4A7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3412257" y="2927152"/>
            <a:ext cx="2319375" cy="1779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b="1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Admin console</a:t>
            </a:r>
            <a:endParaRPr lang="en-US" sz="928" dirty="0"/>
          </a:p>
        </p:txBody>
      </p:sp>
      <p:sp>
        <p:nvSpPr>
          <p:cNvPr id="24" name="Text 22"/>
          <p:cNvSpPr/>
          <p:nvPr/>
        </p:nvSpPr>
        <p:spPr>
          <a:xfrm>
            <a:off x="3412257" y="3132534"/>
            <a:ext cx="2319375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Students, applications, courses, fees, results, news, timetable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985235" y="2423517"/>
            <a:ext cx="2583582" cy="1116211"/>
          </a:xfrm>
          <a:prstGeom prst="roundRect">
            <a:avLst>
              <a:gd name="adj" fmla="val 11947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117394" y="2541389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A4A7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6117394" y="2927152"/>
            <a:ext cx="2319263" cy="1779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b="1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study assistant</a:t>
            </a:r>
            <a:endParaRPr lang="en-US" sz="928" dirty="0"/>
          </a:p>
        </p:txBody>
      </p:sp>
      <p:sp>
        <p:nvSpPr>
          <p:cNvPr id="28" name="Text 26"/>
          <p:cNvSpPr/>
          <p:nvPr/>
        </p:nvSpPr>
        <p:spPr>
          <a:xfrm>
            <a:off x="6117394" y="3132534"/>
            <a:ext cx="24289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On-demand study help inside the portal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71500" y="3710285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336" dirty="0"/>
          </a:p>
        </p:txBody>
      </p:sp>
      <p:sp>
        <p:nvSpPr>
          <p:cNvPr id="30" name="Text 28"/>
          <p:cNvSpPr/>
          <p:nvPr/>
        </p:nvSpPr>
        <p:spPr>
          <a:xfrm>
            <a:off x="778669" y="3700463"/>
            <a:ext cx="7793831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Role-based access: every user sees exactly their own workspace — nothing more.</a:t>
            </a:r>
            <a:endParaRPr lang="en-US" sz="816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0" y="0"/>
            <a:ext cx="4000500" cy="4000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0" y="0"/>
            <a:ext cx="4000500" cy="4000500"/>
          </a:xfrm>
          <a:prstGeom prst="ellipse">
            <a:avLst/>
          </a:prstGeom>
          <a:solidFill>
            <a:srgbClr val="2D7AB3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21469" y="250031"/>
            <a:ext cx="8501063" cy="4643438"/>
          </a:xfrm>
          <a:prstGeom prst="roundRect">
            <a:avLst>
              <a:gd name="adj" fmla="val 821"/>
            </a:avLst>
          </a:prstGeom>
          <a:noFill/>
          <a:ln w="14288">
            <a:solidFill>
              <a:srgbClr val="4DA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85813" y="585788"/>
            <a:ext cx="83581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281" kern="0" dirty="0">
                <a:solidFill>
                  <a:srgbClr val="4DA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SEE IT LIVE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85813" y="796528"/>
            <a:ext cx="8329613" cy="486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44"/>
              </a:lnSpc>
              <a:buNone/>
            </a:pPr>
            <a:r>
              <a:rPr lang="en-US" sz="2363" b="1" dirty="0">
                <a:solidFill>
                  <a:srgbClr val="E8F0F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The platform is running today</a:t>
            </a:r>
            <a:endParaRPr lang="en-US" sz="2363" dirty="0"/>
          </a:p>
        </p:txBody>
      </p:sp>
      <p:sp>
        <p:nvSpPr>
          <p:cNvPr id="7" name="Text 4"/>
          <p:cNvSpPr/>
          <p:nvPr/>
        </p:nvSpPr>
        <p:spPr>
          <a:xfrm>
            <a:off x="789384" y="1435894"/>
            <a:ext cx="7565231" cy="642938"/>
          </a:xfrm>
          <a:prstGeom prst="roundRect">
            <a:avLst>
              <a:gd name="adj" fmla="val 20741"/>
            </a:avLst>
          </a:prstGeom>
          <a:solidFill>
            <a:srgbClr val="4DA8DA">
              <a:alpha val="8000"/>
            </a:srgbClr>
          </a:solidFill>
          <a:ln w="7144">
            <a:solidFill>
              <a:srgbClr val="4DA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466938" y="1650206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4DA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2109" dirty="0"/>
          </a:p>
        </p:txBody>
      </p:sp>
      <p:sp>
        <p:nvSpPr>
          <p:cNvPr id="9" name="Text 6"/>
          <p:cNvSpPr/>
          <p:nvPr/>
        </p:nvSpPr>
        <p:spPr>
          <a:xfrm>
            <a:off x="2781263" y="1596628"/>
            <a:ext cx="5434050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31"/>
              </a:lnSpc>
              <a:buNone/>
            </a:pPr>
            <a:r>
              <a:rPr lang="en-US" sz="1688" b="1" spc="28" kern="0" dirty="0">
                <a:solidFill>
                  <a:srgbClr val="4DA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https://kip-college-system.vercel.app</a:t>
            </a:r>
            <a:endParaRPr lang="en-US" sz="1688" dirty="0"/>
          </a:p>
        </p:txBody>
      </p:sp>
      <p:sp>
        <p:nvSpPr>
          <p:cNvPr id="10" name="Text 7"/>
          <p:cNvSpPr/>
          <p:nvPr/>
        </p:nvSpPr>
        <p:spPr>
          <a:xfrm>
            <a:off x="789384" y="2271713"/>
            <a:ext cx="2440707" cy="932259"/>
          </a:xfrm>
          <a:prstGeom prst="roundRect">
            <a:avLst>
              <a:gd name="adj" fmla="val 14304"/>
            </a:avLst>
          </a:prstGeom>
          <a:solidFill>
            <a:srgbClr val="4DA8DA">
              <a:alpha val="8000"/>
            </a:srgbClr>
          </a:solidFill>
          <a:ln w="7144">
            <a:solidFill>
              <a:srgbClr val="4DA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921544" y="2403872"/>
            <a:ext cx="27146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DA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125" dirty="0"/>
          </a:p>
        </p:txBody>
      </p:sp>
      <p:sp>
        <p:nvSpPr>
          <p:cNvPr id="12" name="Text 9"/>
          <p:cNvSpPr/>
          <p:nvPr/>
        </p:nvSpPr>
        <p:spPr>
          <a:xfrm>
            <a:off x="1264444" y="2453878"/>
            <a:ext cx="183348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8F0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Administrator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21544" y="2746772"/>
            <a:ext cx="2176388" cy="1422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7A9B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admin@kipskitui.com</a:t>
            </a:r>
            <a:endParaRPr lang="en-US" sz="816" dirty="0"/>
          </a:p>
        </p:txBody>
      </p:sp>
      <p:sp>
        <p:nvSpPr>
          <p:cNvPr id="14" name="Text 11"/>
          <p:cNvSpPr/>
          <p:nvPr/>
        </p:nvSpPr>
        <p:spPr>
          <a:xfrm>
            <a:off x="921544" y="2916436"/>
            <a:ext cx="21763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4DA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Admin@123</a:t>
            </a:r>
            <a:endParaRPr lang="en-US" sz="816" dirty="0"/>
          </a:p>
        </p:txBody>
      </p:sp>
      <p:sp>
        <p:nvSpPr>
          <p:cNvPr id="15" name="Text 12"/>
          <p:cNvSpPr/>
          <p:nvPr/>
        </p:nvSpPr>
        <p:spPr>
          <a:xfrm>
            <a:off x="3351535" y="2271713"/>
            <a:ext cx="2440818" cy="932259"/>
          </a:xfrm>
          <a:prstGeom prst="roundRect">
            <a:avLst>
              <a:gd name="adj" fmla="val 14304"/>
            </a:avLst>
          </a:prstGeom>
          <a:solidFill>
            <a:srgbClr val="4DA8DA">
              <a:alpha val="8000"/>
            </a:srgbClr>
          </a:solidFill>
          <a:ln w="7144">
            <a:solidFill>
              <a:srgbClr val="4DA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3483694" y="2403872"/>
            <a:ext cx="27146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DA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17" name="Text 14"/>
          <p:cNvSpPr/>
          <p:nvPr/>
        </p:nvSpPr>
        <p:spPr>
          <a:xfrm>
            <a:off x="3826594" y="2453878"/>
            <a:ext cx="18336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8F0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Lecturer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483694" y="2746772"/>
            <a:ext cx="2176500" cy="1422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7A9B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lecturer@kipskitui.com</a:t>
            </a:r>
            <a:endParaRPr lang="en-US" sz="816" dirty="0"/>
          </a:p>
        </p:txBody>
      </p:sp>
      <p:sp>
        <p:nvSpPr>
          <p:cNvPr id="19" name="Text 16"/>
          <p:cNvSpPr/>
          <p:nvPr/>
        </p:nvSpPr>
        <p:spPr>
          <a:xfrm>
            <a:off x="3483694" y="2916436"/>
            <a:ext cx="21765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4DA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Lecturer@123</a:t>
            </a:r>
            <a:endParaRPr lang="en-US" sz="816" dirty="0"/>
          </a:p>
        </p:txBody>
      </p:sp>
      <p:sp>
        <p:nvSpPr>
          <p:cNvPr id="20" name="Text 17"/>
          <p:cNvSpPr/>
          <p:nvPr/>
        </p:nvSpPr>
        <p:spPr>
          <a:xfrm>
            <a:off x="5913797" y="2271713"/>
            <a:ext cx="2440707" cy="932259"/>
          </a:xfrm>
          <a:prstGeom prst="roundRect">
            <a:avLst>
              <a:gd name="adj" fmla="val 14304"/>
            </a:avLst>
          </a:prstGeom>
          <a:solidFill>
            <a:srgbClr val="4DA8DA">
              <a:alpha val="8000"/>
            </a:srgbClr>
          </a:solidFill>
          <a:ln w="7144">
            <a:solidFill>
              <a:srgbClr val="4DA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045957" y="2403872"/>
            <a:ext cx="27146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DA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1125" dirty="0"/>
          </a:p>
        </p:txBody>
      </p:sp>
      <p:sp>
        <p:nvSpPr>
          <p:cNvPr id="22" name="Text 19"/>
          <p:cNvSpPr/>
          <p:nvPr/>
        </p:nvSpPr>
        <p:spPr>
          <a:xfrm>
            <a:off x="6388857" y="2453878"/>
            <a:ext cx="183348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8F0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Student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045957" y="2746772"/>
            <a:ext cx="2176388" cy="1422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7A9B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student@kipskitui.com</a:t>
            </a:r>
            <a:endParaRPr lang="en-US" sz="816" dirty="0"/>
          </a:p>
        </p:txBody>
      </p:sp>
      <p:sp>
        <p:nvSpPr>
          <p:cNvPr id="24" name="Text 21"/>
          <p:cNvSpPr/>
          <p:nvPr/>
        </p:nvSpPr>
        <p:spPr>
          <a:xfrm>
            <a:off x="6045957" y="2916436"/>
            <a:ext cx="21763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4DA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Student@123</a:t>
            </a:r>
            <a:endParaRPr lang="en-US" sz="816" dirty="0"/>
          </a:p>
        </p:txBody>
      </p:sp>
      <p:sp>
        <p:nvSpPr>
          <p:cNvPr id="25" name="Text 22"/>
          <p:cNvSpPr/>
          <p:nvPr/>
        </p:nvSpPr>
        <p:spPr>
          <a:xfrm>
            <a:off x="785813" y="3403104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4DA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336" dirty="0"/>
          </a:p>
        </p:txBody>
      </p:sp>
      <p:sp>
        <p:nvSpPr>
          <p:cNvPr id="26" name="Text 23"/>
          <p:cNvSpPr/>
          <p:nvPr/>
        </p:nvSpPr>
        <p:spPr>
          <a:xfrm>
            <a:off x="992981" y="3393281"/>
            <a:ext cx="7365206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7A9B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on Vercel with a persistent PostgreSQL (Prisma Postgres) database — works on any phone, tablet or computer.</a:t>
            </a:r>
            <a:endParaRPr lang="en-US" sz="816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71475"/>
            <a:ext cx="8572500" cy="1636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281" kern="0" dirty="0">
                <a:solidFill>
                  <a:srgbClr val="2D7AB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PLATFORM TOUR · 1 / 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71500" y="562570"/>
            <a:ext cx="8401050" cy="439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6"/>
              </a:lnSpc>
              <a:buNone/>
            </a:pPr>
            <a:r>
              <a:rPr lang="en-US" sz="2138" b="1" dirty="0">
                <a:solidFill>
                  <a:srgbClr val="1A4A7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The public website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571500" y="1069777"/>
            <a:ext cx="600075" cy="28575"/>
          </a:xfrm>
          <a:prstGeom prst="roundRect">
            <a:avLst>
              <a:gd name="adj" fmla="val 66667"/>
            </a:avLst>
          </a:prstGeom>
          <a:solidFill>
            <a:srgbClr val="2D7AB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5072" y="1203722"/>
            <a:ext cx="4736306" cy="2970014"/>
          </a:xfrm>
          <a:prstGeom prst="roundRect">
            <a:avLst>
              <a:gd name="adj" fmla="val 3848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  <a:effectLst>
            <a:outerShdw sx="100000" sy="100000" kx="0" ky="0" algn="bl" rotWithShape="0" blurRad="247650" dist="95250" dir="5400000">
              <a:srgbClr val="142840">
                <a:alpha val="1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8644" y="1207294"/>
            <a:ext cx="4729163" cy="233958"/>
          </a:xfrm>
          <a:prstGeom prst="rect">
            <a:avLst/>
          </a:prstGeom>
          <a:solidFill>
            <a:srgbClr val="EEF3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78644" y="1437680"/>
            <a:ext cx="4729163" cy="0"/>
          </a:xfrm>
          <a:prstGeom prst="line">
            <a:avLst/>
          </a:prstGeom>
          <a:noFill/>
          <a:ln w="7144">
            <a:solidFill>
              <a:srgbClr val="C0D0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4369" y="1288554"/>
            <a:ext cx="64294" cy="64294"/>
          </a:xfrm>
          <a:prstGeom prst="ellipse">
            <a:avLst/>
          </a:prstGeom>
          <a:solidFill>
            <a:srgbClr val="E08A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71525" y="1288554"/>
            <a:ext cx="64294" cy="64294"/>
          </a:xfrm>
          <a:prstGeom prst="ellipse">
            <a:avLst/>
          </a:prstGeom>
          <a:solidFill>
            <a:srgbClr val="E6C5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78681" y="1288554"/>
            <a:ext cx="64294" cy="64294"/>
          </a:xfrm>
          <a:prstGeom prst="ellipse">
            <a:avLst/>
          </a:prstGeom>
          <a:solidFill>
            <a:srgbClr val="8FD0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42988" y="1264444"/>
            <a:ext cx="4179094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23" kern="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kip-college-system.vercel.app</a:t>
            </a:r>
            <a:endParaRPr lang="en-US" sz="800" dirty="0"/>
          </a:p>
        </p:txBody>
      </p:sp>
      <p:pic>
        <p:nvPicPr>
          <p:cNvPr id="12" name="Image 0" descr="/tmp/h2p-fit-1793264501128-1fpc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644" y="1441252"/>
            <a:ext cx="4729163" cy="272891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71500" y="4248745"/>
            <a:ext cx="157163" cy="157163"/>
          </a:xfrm>
          <a:prstGeom prst="roundRect">
            <a:avLst>
              <a:gd name="adj" fmla="val 36364"/>
            </a:avLst>
          </a:prstGeom>
          <a:solidFill>
            <a:srgbClr val="E4EC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71500" y="4248745"/>
            <a:ext cx="1857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1A4A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85813" y="4257675"/>
            <a:ext cx="452913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Homepage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sapphire &amp; gold identity, live intake countdown, course finder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489972" y="1203722"/>
            <a:ext cx="2505894" cy="1441252"/>
          </a:xfrm>
          <a:prstGeom prst="roundRect">
            <a:avLst>
              <a:gd name="adj" fmla="val 7931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  <a:effectLst>
            <a:outerShdw sx="100000" sy="100000" kx="0" ky="0" algn="bl" rotWithShape="0" blurRad="247650" dist="95250" dir="5400000">
              <a:srgbClr val="142840">
                <a:alpha val="1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493544" y="1207294"/>
            <a:ext cx="2498750" cy="233958"/>
          </a:xfrm>
          <a:prstGeom prst="rect">
            <a:avLst/>
          </a:prstGeom>
          <a:solidFill>
            <a:srgbClr val="EEF3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5493544" y="1437680"/>
            <a:ext cx="2498750" cy="0"/>
          </a:xfrm>
          <a:prstGeom prst="line">
            <a:avLst/>
          </a:prstGeom>
          <a:noFill/>
          <a:ln w="7144">
            <a:solidFill>
              <a:srgbClr val="C0D0E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79269" y="1288554"/>
            <a:ext cx="64294" cy="64294"/>
          </a:xfrm>
          <a:prstGeom prst="ellipse">
            <a:avLst/>
          </a:prstGeom>
          <a:solidFill>
            <a:srgbClr val="E08A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686425" y="1288554"/>
            <a:ext cx="64294" cy="64294"/>
          </a:xfrm>
          <a:prstGeom prst="ellipse">
            <a:avLst/>
          </a:prstGeom>
          <a:solidFill>
            <a:srgbClr val="E6C5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793581" y="1288554"/>
            <a:ext cx="64294" cy="64294"/>
          </a:xfrm>
          <a:prstGeom prst="ellipse">
            <a:avLst/>
          </a:prstGeom>
          <a:solidFill>
            <a:srgbClr val="8FD0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957888" y="1264444"/>
            <a:ext cx="1948681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23" kern="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/academics</a:t>
            </a:r>
            <a:endParaRPr lang="en-US" sz="800" dirty="0"/>
          </a:p>
        </p:txBody>
      </p:sp>
      <p:pic>
        <p:nvPicPr>
          <p:cNvPr id="23" name="Image 1" descr="/tmp/h2p-fit-1793264501130-n67wx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3544" y="1441252"/>
            <a:ext cx="2498750" cy="120015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486400" y="2705695"/>
            <a:ext cx="157163" cy="157163"/>
          </a:xfrm>
          <a:prstGeom prst="roundRect">
            <a:avLst>
              <a:gd name="adj" fmla="val 36364"/>
            </a:avLst>
          </a:prstGeom>
          <a:solidFill>
            <a:srgbClr val="E4EC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5486400" y="2705695"/>
            <a:ext cx="1857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1A4A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5700713" y="2714625"/>
            <a:ext cx="22987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Programme finder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filter by grade, campus, cost</a:t>
            </a:r>
            <a:endParaRPr lang="en-US" sz="731" dirty="0"/>
          </a:p>
        </p:txBody>
      </p:sp>
      <p:sp>
        <p:nvSpPr>
          <p:cNvPr id="27" name="Text 23"/>
          <p:cNvSpPr/>
          <p:nvPr/>
        </p:nvSpPr>
        <p:spPr>
          <a:xfrm>
            <a:off x="5489972" y="2995017"/>
            <a:ext cx="2505894" cy="1441252"/>
          </a:xfrm>
          <a:prstGeom prst="roundRect">
            <a:avLst>
              <a:gd name="adj" fmla="val 7931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  <a:effectLst>
            <a:outerShdw sx="100000" sy="100000" kx="0" ky="0" algn="bl" rotWithShape="0" blurRad="247650" dist="95250" dir="5400000">
              <a:srgbClr val="142840">
                <a:alpha val="1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5493544" y="2998589"/>
            <a:ext cx="2498750" cy="233958"/>
          </a:xfrm>
          <a:prstGeom prst="rect">
            <a:avLst/>
          </a:prstGeom>
          <a:solidFill>
            <a:srgbClr val="EEF3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5"/>
          <p:cNvSpPr/>
          <p:nvPr/>
        </p:nvSpPr>
        <p:spPr>
          <a:xfrm>
            <a:off x="5493544" y="3228975"/>
            <a:ext cx="2498750" cy="0"/>
          </a:xfrm>
          <a:prstGeom prst="line">
            <a:avLst/>
          </a:prstGeom>
          <a:noFill/>
          <a:ln w="7144">
            <a:solidFill>
              <a:srgbClr val="C0D0E2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579269" y="3079849"/>
            <a:ext cx="64294" cy="64294"/>
          </a:xfrm>
          <a:prstGeom prst="ellipse">
            <a:avLst/>
          </a:prstGeom>
          <a:solidFill>
            <a:srgbClr val="E08A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5686425" y="3079849"/>
            <a:ext cx="64294" cy="64294"/>
          </a:xfrm>
          <a:prstGeom prst="ellipse">
            <a:avLst/>
          </a:prstGeom>
          <a:solidFill>
            <a:srgbClr val="E6C5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5793581" y="3079849"/>
            <a:ext cx="64294" cy="64294"/>
          </a:xfrm>
          <a:prstGeom prst="ellipse">
            <a:avLst/>
          </a:prstGeom>
          <a:solidFill>
            <a:srgbClr val="8FD0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5957888" y="3055739"/>
            <a:ext cx="1948681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23" kern="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/course/CPA</a:t>
            </a:r>
            <a:endParaRPr lang="en-US" sz="800" dirty="0"/>
          </a:p>
        </p:txBody>
      </p:sp>
      <p:pic>
        <p:nvPicPr>
          <p:cNvPr id="34" name="Image 2" descr="/tmp/h2p-fit-1793264501130-0hqg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3544" y="3232547"/>
            <a:ext cx="2498750" cy="120015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5486400" y="4496991"/>
            <a:ext cx="157163" cy="157163"/>
          </a:xfrm>
          <a:prstGeom prst="roundRect">
            <a:avLst>
              <a:gd name="adj" fmla="val 36364"/>
            </a:avLst>
          </a:prstGeom>
          <a:solidFill>
            <a:srgbClr val="E4EC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1"/>
          <p:cNvSpPr/>
          <p:nvPr/>
        </p:nvSpPr>
        <p:spPr>
          <a:xfrm>
            <a:off x="5486400" y="4496991"/>
            <a:ext cx="1857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1A4A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37" name="Text 32"/>
          <p:cNvSpPr/>
          <p:nvPr/>
        </p:nvSpPr>
        <p:spPr>
          <a:xfrm>
            <a:off x="5700713" y="4505920"/>
            <a:ext cx="22987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Course pages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fees, duration, exam body, apply CTA</a:t>
            </a:r>
            <a:endParaRPr lang="en-US" sz="731" dirty="0"/>
          </a:p>
        </p:txBody>
      </p:sp>
      <p:sp>
        <p:nvSpPr>
          <p:cNvPr id="38" name="Text 33"/>
          <p:cNvSpPr/>
          <p:nvPr/>
        </p:nvSpPr>
        <p:spPr>
          <a:xfrm>
            <a:off x="571500" y="469255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39" name="Text 34"/>
          <p:cNvSpPr/>
          <p:nvPr/>
        </p:nvSpPr>
        <p:spPr>
          <a:xfrm>
            <a:off x="757238" y="4684514"/>
            <a:ext cx="1354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14284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28 programmes, 3 categories</a:t>
            </a:r>
            <a:endParaRPr lang="en-US" sz="759" dirty="0"/>
          </a:p>
        </p:txBody>
      </p:sp>
      <p:sp>
        <p:nvSpPr>
          <p:cNvPr id="40" name="Text 35"/>
          <p:cNvSpPr/>
          <p:nvPr/>
        </p:nvSpPr>
        <p:spPr>
          <a:xfrm>
            <a:off x="2211660" y="469255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41" name="Text 36"/>
          <p:cNvSpPr/>
          <p:nvPr/>
        </p:nvSpPr>
        <p:spPr>
          <a:xfrm>
            <a:off x="2397398" y="4684514"/>
            <a:ext cx="139137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News &amp; events from the CMS</a:t>
            </a:r>
            <a:endParaRPr lang="en-US" sz="759" dirty="0"/>
          </a:p>
        </p:txBody>
      </p:sp>
      <p:sp>
        <p:nvSpPr>
          <p:cNvPr id="42" name="Text 37"/>
          <p:cNvSpPr/>
          <p:nvPr/>
        </p:nvSpPr>
        <p:spPr>
          <a:xfrm>
            <a:off x="3862313" y="469255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43" name="Text 38"/>
          <p:cNvSpPr/>
          <p:nvPr/>
        </p:nvSpPr>
        <p:spPr>
          <a:xfrm>
            <a:off x="4048051" y="4684514"/>
            <a:ext cx="129732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Campus pages &amp; directions</a:t>
            </a:r>
            <a:endParaRPr lang="en-US" sz="759" dirty="0"/>
          </a:p>
        </p:txBody>
      </p:sp>
      <p:sp>
        <p:nvSpPr>
          <p:cNvPr id="44" name="Text 39"/>
          <p:cNvSpPr/>
          <p:nvPr/>
        </p:nvSpPr>
        <p:spPr>
          <a:xfrm>
            <a:off x="5427464" y="469255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45" name="Text 40"/>
          <p:cNvSpPr/>
          <p:nvPr/>
        </p:nvSpPr>
        <p:spPr>
          <a:xfrm>
            <a:off x="5613202" y="4684514"/>
            <a:ext cx="119517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Apply CTA on every page</a:t>
            </a:r>
            <a:endParaRPr lang="en-US" sz="759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71475"/>
            <a:ext cx="8572500" cy="1636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281" kern="0" dirty="0">
                <a:solidFill>
                  <a:srgbClr val="2D7AB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PLATFORM TOUR · 2 / 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71500" y="562570"/>
            <a:ext cx="8572500" cy="439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6"/>
              </a:lnSpc>
              <a:buNone/>
            </a:pPr>
            <a:r>
              <a:rPr lang="en-US" sz="2138" b="1" dirty="0">
                <a:solidFill>
                  <a:srgbClr val="1A4A7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Online admissions, start to finish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571500" y="1069777"/>
            <a:ext cx="600075" cy="28575"/>
          </a:xfrm>
          <a:prstGeom prst="roundRect">
            <a:avLst>
              <a:gd name="adj" fmla="val 66667"/>
            </a:avLst>
          </a:prstGeom>
          <a:solidFill>
            <a:srgbClr val="2D7AB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5072" y="1203722"/>
            <a:ext cx="4736306" cy="2970014"/>
          </a:xfrm>
          <a:prstGeom prst="roundRect">
            <a:avLst>
              <a:gd name="adj" fmla="val 3848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  <a:effectLst>
            <a:outerShdw sx="100000" sy="100000" kx="0" ky="0" algn="bl" rotWithShape="0" blurRad="247650" dist="95250" dir="5400000">
              <a:srgbClr val="142840">
                <a:alpha val="1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8644" y="1207294"/>
            <a:ext cx="4729163" cy="233958"/>
          </a:xfrm>
          <a:prstGeom prst="rect">
            <a:avLst/>
          </a:prstGeom>
          <a:solidFill>
            <a:srgbClr val="EEF3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78644" y="1437680"/>
            <a:ext cx="4729163" cy="0"/>
          </a:xfrm>
          <a:prstGeom prst="line">
            <a:avLst/>
          </a:prstGeom>
          <a:noFill/>
          <a:ln w="7144">
            <a:solidFill>
              <a:srgbClr val="C0D0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4369" y="1288554"/>
            <a:ext cx="64294" cy="64294"/>
          </a:xfrm>
          <a:prstGeom prst="ellipse">
            <a:avLst/>
          </a:prstGeom>
          <a:solidFill>
            <a:srgbClr val="E08A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71525" y="1288554"/>
            <a:ext cx="64294" cy="64294"/>
          </a:xfrm>
          <a:prstGeom prst="ellipse">
            <a:avLst/>
          </a:prstGeom>
          <a:solidFill>
            <a:srgbClr val="E6C5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78681" y="1288554"/>
            <a:ext cx="64294" cy="64294"/>
          </a:xfrm>
          <a:prstGeom prst="ellipse">
            <a:avLst/>
          </a:prstGeom>
          <a:solidFill>
            <a:srgbClr val="8FD0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42988" y="1264444"/>
            <a:ext cx="4179094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23" kern="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/apply</a:t>
            </a:r>
            <a:endParaRPr lang="en-US" sz="800" dirty="0"/>
          </a:p>
        </p:txBody>
      </p:sp>
      <p:pic>
        <p:nvPicPr>
          <p:cNvPr id="12" name="Image 0" descr="/tmp/h2p-fit-1793264501191-9gz6s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644" y="1441252"/>
            <a:ext cx="4729163" cy="272891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71500" y="4248745"/>
            <a:ext cx="157163" cy="157163"/>
          </a:xfrm>
          <a:prstGeom prst="roundRect">
            <a:avLst>
              <a:gd name="adj" fmla="val 36364"/>
            </a:avLst>
          </a:prstGeom>
          <a:solidFill>
            <a:srgbClr val="E4EC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71500" y="4248745"/>
            <a:ext cx="1857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1A4A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85813" y="4257675"/>
            <a:ext cx="452913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wizard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validated step by step, duplicates prevented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489972" y="1203722"/>
            <a:ext cx="2756483" cy="1441252"/>
          </a:xfrm>
          <a:prstGeom prst="roundRect">
            <a:avLst>
              <a:gd name="adj" fmla="val 7931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  <a:effectLst>
            <a:outerShdw sx="100000" sy="100000" kx="0" ky="0" algn="bl" rotWithShape="0" blurRad="247650" dist="95250" dir="5400000">
              <a:srgbClr val="142840">
                <a:alpha val="1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493544" y="1207294"/>
            <a:ext cx="2749339" cy="233958"/>
          </a:xfrm>
          <a:prstGeom prst="rect">
            <a:avLst/>
          </a:prstGeom>
          <a:solidFill>
            <a:srgbClr val="EEF3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5493544" y="1437680"/>
            <a:ext cx="2749339" cy="0"/>
          </a:xfrm>
          <a:prstGeom prst="line">
            <a:avLst/>
          </a:prstGeom>
          <a:noFill/>
          <a:ln w="7144">
            <a:solidFill>
              <a:srgbClr val="C0D0E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79269" y="1288554"/>
            <a:ext cx="64294" cy="64294"/>
          </a:xfrm>
          <a:prstGeom prst="ellipse">
            <a:avLst/>
          </a:prstGeom>
          <a:solidFill>
            <a:srgbClr val="E08A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686425" y="1288554"/>
            <a:ext cx="64294" cy="64294"/>
          </a:xfrm>
          <a:prstGeom prst="ellipse">
            <a:avLst/>
          </a:prstGeom>
          <a:solidFill>
            <a:srgbClr val="E6C5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793581" y="1288554"/>
            <a:ext cx="64294" cy="64294"/>
          </a:xfrm>
          <a:prstGeom prst="ellipse">
            <a:avLst/>
          </a:prstGeom>
          <a:solidFill>
            <a:srgbClr val="8FD0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957888" y="1264444"/>
            <a:ext cx="219927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23" kern="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/login · /login/staff</a:t>
            </a:r>
            <a:endParaRPr lang="en-US" sz="800" dirty="0"/>
          </a:p>
        </p:txBody>
      </p:sp>
      <p:pic>
        <p:nvPicPr>
          <p:cNvPr id="23" name="Image 1" descr="/tmp/h2p-fit-1793264501192-g2gyv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3544" y="1441252"/>
            <a:ext cx="2749339" cy="120015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486400" y="2705695"/>
            <a:ext cx="157163" cy="157163"/>
          </a:xfrm>
          <a:prstGeom prst="roundRect">
            <a:avLst>
              <a:gd name="adj" fmla="val 36364"/>
            </a:avLst>
          </a:prstGeom>
          <a:solidFill>
            <a:srgbClr val="E4EC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5486400" y="2705695"/>
            <a:ext cx="1857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1A4A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5700713" y="2714625"/>
            <a:ext cx="25493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Split sign-ins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students and staff, each branded</a:t>
            </a:r>
            <a:endParaRPr lang="en-US" sz="731" dirty="0"/>
          </a:p>
        </p:txBody>
      </p:sp>
      <p:sp>
        <p:nvSpPr>
          <p:cNvPr id="27" name="Text 23"/>
          <p:cNvSpPr/>
          <p:nvPr/>
        </p:nvSpPr>
        <p:spPr>
          <a:xfrm>
            <a:off x="5489972" y="2995017"/>
            <a:ext cx="2756483" cy="816173"/>
          </a:xfrm>
          <a:prstGeom prst="roundRect">
            <a:avLst>
              <a:gd name="adj" fmla="val 16338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5622131" y="311914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29" name="Text 25"/>
          <p:cNvSpPr/>
          <p:nvPr/>
        </p:nvSpPr>
        <p:spPr>
          <a:xfrm>
            <a:off x="5836444" y="3112889"/>
            <a:ext cx="2277852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b="1" dirty="0">
                <a:solidFill>
                  <a:srgbClr val="1A4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applicant gets a reference number</a:t>
            </a:r>
            <a:endParaRPr lang="en-US" sz="816" dirty="0"/>
          </a:p>
        </p:txBody>
      </p:sp>
      <p:sp>
        <p:nvSpPr>
          <p:cNvPr id="30" name="Text 26"/>
          <p:cNvSpPr/>
          <p:nvPr/>
        </p:nvSpPr>
        <p:spPr>
          <a:xfrm>
            <a:off x="5622131" y="3339703"/>
            <a:ext cx="2492164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spc="28" kern="0" dirty="0">
                <a:solidFill>
                  <a:srgbClr val="2D7AB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KIP/APP/2026/SG8JGW</a:t>
            </a:r>
            <a:endParaRPr lang="en-US" sz="956" dirty="0"/>
          </a:p>
        </p:txBody>
      </p:sp>
      <p:sp>
        <p:nvSpPr>
          <p:cNvPr id="31" name="Text 27"/>
          <p:cNvSpPr/>
          <p:nvPr/>
        </p:nvSpPr>
        <p:spPr>
          <a:xfrm>
            <a:off x="5622131" y="3564731"/>
            <a:ext cx="249216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Issued instantly — quote it at any campus to track the application.</a:t>
            </a:r>
            <a:endParaRPr lang="en-US" sz="675" dirty="0"/>
          </a:p>
        </p:txBody>
      </p:sp>
      <p:sp>
        <p:nvSpPr>
          <p:cNvPr id="32" name="Text 28"/>
          <p:cNvSpPr/>
          <p:nvPr/>
        </p:nvSpPr>
        <p:spPr>
          <a:xfrm>
            <a:off x="571500" y="469255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33" name="Text 29"/>
          <p:cNvSpPr/>
          <p:nvPr/>
        </p:nvSpPr>
        <p:spPr>
          <a:xfrm>
            <a:off x="757238" y="4684514"/>
            <a:ext cx="111855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Validation on every field</a:t>
            </a:r>
            <a:endParaRPr lang="en-US" sz="759" dirty="0"/>
          </a:p>
        </p:txBody>
      </p:sp>
      <p:sp>
        <p:nvSpPr>
          <p:cNvPr id="34" name="Text 30"/>
          <p:cNvSpPr/>
          <p:nvPr/>
        </p:nvSpPr>
        <p:spPr>
          <a:xfrm>
            <a:off x="1974131" y="469255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35" name="Text 31"/>
          <p:cNvSpPr/>
          <p:nvPr/>
        </p:nvSpPr>
        <p:spPr>
          <a:xfrm>
            <a:off x="2159868" y="4684514"/>
            <a:ext cx="142418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Duplicate submissions blocked</a:t>
            </a:r>
            <a:endParaRPr lang="en-US" sz="759" dirty="0"/>
          </a:p>
        </p:txBody>
      </p:sp>
      <p:sp>
        <p:nvSpPr>
          <p:cNvPr id="36" name="Text 32"/>
          <p:cNvSpPr/>
          <p:nvPr/>
        </p:nvSpPr>
        <p:spPr>
          <a:xfrm>
            <a:off x="3678585" y="469255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37" name="Text 33"/>
          <p:cNvSpPr/>
          <p:nvPr/>
        </p:nvSpPr>
        <p:spPr>
          <a:xfrm>
            <a:off x="3864322" y="4684514"/>
            <a:ext cx="222621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Accept in admin → student record + fees posted</a:t>
            </a:r>
            <a:endParaRPr lang="en-US" sz="759" dirty="0"/>
          </a:p>
        </p:txBody>
      </p:sp>
      <p:sp>
        <p:nvSpPr>
          <p:cNvPr id="38" name="Text 34"/>
          <p:cNvSpPr/>
          <p:nvPr/>
        </p:nvSpPr>
        <p:spPr>
          <a:xfrm>
            <a:off x="6125654" y="469255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39" name="Text 35"/>
          <p:cNvSpPr/>
          <p:nvPr/>
        </p:nvSpPr>
        <p:spPr>
          <a:xfrm>
            <a:off x="6311392" y="4684514"/>
            <a:ext cx="178306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First sign-in forces a password change</a:t>
            </a:r>
            <a:endParaRPr lang="en-US" sz="759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71475"/>
            <a:ext cx="8572500" cy="1636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281" kern="0" dirty="0">
                <a:solidFill>
                  <a:srgbClr val="2D7AB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PLATFORM TOUR · 3 / 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71500" y="562570"/>
            <a:ext cx="8401050" cy="439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6"/>
              </a:lnSpc>
              <a:buNone/>
            </a:pPr>
            <a:r>
              <a:rPr lang="en-US" sz="2138" b="1" dirty="0">
                <a:solidFill>
                  <a:srgbClr val="1A4A7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The student portal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571500" y="1069777"/>
            <a:ext cx="600075" cy="28575"/>
          </a:xfrm>
          <a:prstGeom prst="roundRect">
            <a:avLst>
              <a:gd name="adj" fmla="val 66667"/>
            </a:avLst>
          </a:prstGeom>
          <a:solidFill>
            <a:srgbClr val="2D7AB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5072" y="1203722"/>
            <a:ext cx="4736306" cy="2970014"/>
          </a:xfrm>
          <a:prstGeom prst="roundRect">
            <a:avLst>
              <a:gd name="adj" fmla="val 3848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  <a:effectLst>
            <a:outerShdw sx="100000" sy="100000" kx="0" ky="0" algn="bl" rotWithShape="0" blurRad="247650" dist="95250" dir="5400000">
              <a:srgbClr val="142840">
                <a:alpha val="1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8644" y="1207294"/>
            <a:ext cx="4729163" cy="233958"/>
          </a:xfrm>
          <a:prstGeom prst="rect">
            <a:avLst/>
          </a:prstGeom>
          <a:solidFill>
            <a:srgbClr val="EEF3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78644" y="1437680"/>
            <a:ext cx="4729163" cy="0"/>
          </a:xfrm>
          <a:prstGeom prst="line">
            <a:avLst/>
          </a:prstGeom>
          <a:noFill/>
          <a:ln w="7144">
            <a:solidFill>
              <a:srgbClr val="C0D0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4369" y="1288554"/>
            <a:ext cx="64294" cy="64294"/>
          </a:xfrm>
          <a:prstGeom prst="ellipse">
            <a:avLst/>
          </a:prstGeom>
          <a:solidFill>
            <a:srgbClr val="E08A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71525" y="1288554"/>
            <a:ext cx="64294" cy="64294"/>
          </a:xfrm>
          <a:prstGeom prst="ellipse">
            <a:avLst/>
          </a:prstGeom>
          <a:solidFill>
            <a:srgbClr val="E6C5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78681" y="1288554"/>
            <a:ext cx="64294" cy="64294"/>
          </a:xfrm>
          <a:prstGeom prst="ellipse">
            <a:avLst/>
          </a:prstGeom>
          <a:solidFill>
            <a:srgbClr val="8FD0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42988" y="1264444"/>
            <a:ext cx="4179094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23" kern="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/portal — signed in as student</a:t>
            </a:r>
            <a:endParaRPr lang="en-US" sz="800" dirty="0"/>
          </a:p>
        </p:txBody>
      </p:sp>
      <p:pic>
        <p:nvPicPr>
          <p:cNvPr id="12" name="Image 0" descr="/tmp/h2p-fit-1793264506696-dhzbn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644" y="1441252"/>
            <a:ext cx="4729163" cy="272891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71500" y="4248745"/>
            <a:ext cx="157163" cy="157163"/>
          </a:xfrm>
          <a:prstGeom prst="roundRect">
            <a:avLst>
              <a:gd name="adj" fmla="val 36364"/>
            </a:avLst>
          </a:prstGeom>
          <a:solidFill>
            <a:srgbClr val="E4EC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71500" y="4248745"/>
            <a:ext cx="1857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1A4A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85813" y="4257675"/>
            <a:ext cx="452913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Dashboard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fees, results, timetable and announcements at a glance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489972" y="1203722"/>
            <a:ext cx="2189559" cy="1441252"/>
          </a:xfrm>
          <a:prstGeom prst="roundRect">
            <a:avLst>
              <a:gd name="adj" fmla="val 7931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  <a:effectLst>
            <a:outerShdw sx="100000" sy="100000" kx="0" ky="0" algn="bl" rotWithShape="0" blurRad="247650" dist="95250" dir="5400000">
              <a:srgbClr val="142840">
                <a:alpha val="1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493544" y="1207294"/>
            <a:ext cx="2182416" cy="233958"/>
          </a:xfrm>
          <a:prstGeom prst="rect">
            <a:avLst/>
          </a:prstGeom>
          <a:solidFill>
            <a:srgbClr val="EEF3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5493544" y="1437680"/>
            <a:ext cx="2182416" cy="0"/>
          </a:xfrm>
          <a:prstGeom prst="line">
            <a:avLst/>
          </a:prstGeom>
          <a:noFill/>
          <a:ln w="7144">
            <a:solidFill>
              <a:srgbClr val="C0D0E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79269" y="1288554"/>
            <a:ext cx="64294" cy="64294"/>
          </a:xfrm>
          <a:prstGeom prst="ellipse">
            <a:avLst/>
          </a:prstGeom>
          <a:solidFill>
            <a:srgbClr val="E08A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686425" y="1288554"/>
            <a:ext cx="64294" cy="64294"/>
          </a:xfrm>
          <a:prstGeom prst="ellipse">
            <a:avLst/>
          </a:prstGeom>
          <a:solidFill>
            <a:srgbClr val="E6C5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793581" y="1288554"/>
            <a:ext cx="64294" cy="64294"/>
          </a:xfrm>
          <a:prstGeom prst="ellipse">
            <a:avLst/>
          </a:prstGeom>
          <a:solidFill>
            <a:srgbClr val="8FD0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957888" y="1264444"/>
            <a:ext cx="1632347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23" kern="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/portal/fees</a:t>
            </a:r>
            <a:endParaRPr lang="en-US" sz="800" dirty="0"/>
          </a:p>
        </p:txBody>
      </p:sp>
      <p:pic>
        <p:nvPicPr>
          <p:cNvPr id="23" name="Image 1" descr="/tmp/h2p-fit-1793264506696-gebnvj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3544" y="1441252"/>
            <a:ext cx="2182416" cy="120015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486400" y="2705695"/>
            <a:ext cx="157163" cy="157163"/>
          </a:xfrm>
          <a:prstGeom prst="roundRect">
            <a:avLst>
              <a:gd name="adj" fmla="val 36364"/>
            </a:avLst>
          </a:prstGeom>
          <a:solidFill>
            <a:srgbClr val="E4EC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5486400" y="2705695"/>
            <a:ext cx="1857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1A4A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5700713" y="2714625"/>
            <a:ext cx="21409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Fees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statement, balance, M-Pesa slip upload</a:t>
            </a:r>
            <a:endParaRPr lang="en-US" sz="731" dirty="0"/>
          </a:p>
        </p:txBody>
      </p:sp>
      <p:sp>
        <p:nvSpPr>
          <p:cNvPr id="27" name="Text 23"/>
          <p:cNvSpPr/>
          <p:nvPr/>
        </p:nvSpPr>
        <p:spPr>
          <a:xfrm>
            <a:off x="5489972" y="2995017"/>
            <a:ext cx="2189559" cy="1441252"/>
          </a:xfrm>
          <a:prstGeom prst="roundRect">
            <a:avLst>
              <a:gd name="adj" fmla="val 7931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  <a:effectLst>
            <a:outerShdw sx="100000" sy="100000" kx="0" ky="0" algn="bl" rotWithShape="0" blurRad="247650" dist="95250" dir="5400000">
              <a:srgbClr val="142840">
                <a:alpha val="1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5493544" y="2998589"/>
            <a:ext cx="2182416" cy="233958"/>
          </a:xfrm>
          <a:prstGeom prst="rect">
            <a:avLst/>
          </a:prstGeom>
          <a:solidFill>
            <a:srgbClr val="EEF3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5"/>
          <p:cNvSpPr/>
          <p:nvPr/>
        </p:nvSpPr>
        <p:spPr>
          <a:xfrm>
            <a:off x="5493544" y="3228975"/>
            <a:ext cx="2182416" cy="0"/>
          </a:xfrm>
          <a:prstGeom prst="line">
            <a:avLst/>
          </a:prstGeom>
          <a:noFill/>
          <a:ln w="7144">
            <a:solidFill>
              <a:srgbClr val="C0D0E2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579269" y="3079849"/>
            <a:ext cx="64294" cy="64294"/>
          </a:xfrm>
          <a:prstGeom prst="ellipse">
            <a:avLst/>
          </a:prstGeom>
          <a:solidFill>
            <a:srgbClr val="E08A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5686425" y="3079849"/>
            <a:ext cx="64294" cy="64294"/>
          </a:xfrm>
          <a:prstGeom prst="ellipse">
            <a:avLst/>
          </a:prstGeom>
          <a:solidFill>
            <a:srgbClr val="E6C5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5793581" y="3079849"/>
            <a:ext cx="64294" cy="64294"/>
          </a:xfrm>
          <a:prstGeom prst="ellipse">
            <a:avLst/>
          </a:prstGeom>
          <a:solidFill>
            <a:srgbClr val="8FD0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5957888" y="3055739"/>
            <a:ext cx="1632347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23" kern="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/portal/results</a:t>
            </a:r>
            <a:endParaRPr lang="en-US" sz="800" dirty="0"/>
          </a:p>
        </p:txBody>
      </p:sp>
      <p:pic>
        <p:nvPicPr>
          <p:cNvPr id="34" name="Image 2" descr="/tmp/h2p-fit-1793264506696-dh4l1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3544" y="3232547"/>
            <a:ext cx="2182416" cy="120015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5486400" y="4496991"/>
            <a:ext cx="157163" cy="157163"/>
          </a:xfrm>
          <a:prstGeom prst="roundRect">
            <a:avLst>
              <a:gd name="adj" fmla="val 36364"/>
            </a:avLst>
          </a:prstGeom>
          <a:solidFill>
            <a:srgbClr val="E4EC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1"/>
          <p:cNvSpPr/>
          <p:nvPr/>
        </p:nvSpPr>
        <p:spPr>
          <a:xfrm>
            <a:off x="5486400" y="4496991"/>
            <a:ext cx="1857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1A4A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37" name="Text 32"/>
          <p:cNvSpPr/>
          <p:nvPr/>
        </p:nvSpPr>
        <p:spPr>
          <a:xfrm>
            <a:off x="5700713" y="4505920"/>
            <a:ext cx="214074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Results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only ever published, reviewed marks</a:t>
            </a:r>
            <a:endParaRPr lang="en-US" sz="731" dirty="0"/>
          </a:p>
        </p:txBody>
      </p:sp>
      <p:sp>
        <p:nvSpPr>
          <p:cNvPr id="38" name="Text 33"/>
          <p:cNvSpPr/>
          <p:nvPr/>
        </p:nvSpPr>
        <p:spPr>
          <a:xfrm>
            <a:off x="571500" y="469255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9" name="Text 34"/>
          <p:cNvSpPr/>
          <p:nvPr/>
        </p:nvSpPr>
        <p:spPr>
          <a:xfrm>
            <a:off x="757238" y="4684514"/>
            <a:ext cx="114631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study assistant built in</a:t>
            </a:r>
            <a:endParaRPr lang="en-US" sz="759" dirty="0"/>
          </a:p>
        </p:txBody>
      </p:sp>
      <p:sp>
        <p:nvSpPr>
          <p:cNvPr id="40" name="Text 35"/>
          <p:cNvSpPr/>
          <p:nvPr/>
        </p:nvSpPr>
        <p:spPr>
          <a:xfrm>
            <a:off x="2018667" y="469255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41" name="Text 36"/>
          <p:cNvSpPr/>
          <p:nvPr/>
        </p:nvSpPr>
        <p:spPr>
          <a:xfrm>
            <a:off x="2204405" y="4684514"/>
            <a:ext cx="14126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Personal timetable &amp; materials</a:t>
            </a:r>
            <a:endParaRPr lang="en-US" sz="759" dirty="0"/>
          </a:p>
        </p:txBody>
      </p:sp>
      <p:sp>
        <p:nvSpPr>
          <p:cNvPr id="42" name="Text 37"/>
          <p:cNvSpPr/>
          <p:nvPr/>
        </p:nvSpPr>
        <p:spPr>
          <a:xfrm>
            <a:off x="3712406" y="469255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43" name="Text 38"/>
          <p:cNvSpPr/>
          <p:nvPr/>
        </p:nvSpPr>
        <p:spPr>
          <a:xfrm>
            <a:off x="3898143" y="4684514"/>
            <a:ext cx="104365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student ID card</a:t>
            </a:r>
            <a:endParaRPr lang="en-US" sz="759" dirty="0"/>
          </a:p>
        </p:txBody>
      </p:sp>
      <p:sp>
        <p:nvSpPr>
          <p:cNvPr id="44" name="Text 39"/>
          <p:cNvSpPr/>
          <p:nvPr/>
        </p:nvSpPr>
        <p:spPr>
          <a:xfrm>
            <a:off x="5046948" y="469255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⎙</a:t>
            </a:r>
            <a:endParaRPr lang="en-US" sz="1266" dirty="0"/>
          </a:p>
        </p:txBody>
      </p:sp>
      <p:sp>
        <p:nvSpPr>
          <p:cNvPr id="45" name="Text 40"/>
          <p:cNvSpPr/>
          <p:nvPr/>
        </p:nvSpPr>
        <p:spPr>
          <a:xfrm>
            <a:off x="5232685" y="4684514"/>
            <a:ext cx="147059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Printable fee statements &amp; docs</a:t>
            </a:r>
            <a:endParaRPr lang="en-US" sz="759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71475"/>
            <a:ext cx="8572500" cy="1636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281" kern="0" dirty="0">
                <a:solidFill>
                  <a:srgbClr val="2D7AB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PLATFORM TOUR · 4 / 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71500" y="562570"/>
            <a:ext cx="8572500" cy="439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6"/>
              </a:lnSpc>
              <a:buNone/>
            </a:pPr>
            <a:r>
              <a:rPr lang="en-US" sz="2138" b="1" dirty="0">
                <a:solidFill>
                  <a:srgbClr val="1A4A7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Lecturer and admin workspaces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571500" y="1069777"/>
            <a:ext cx="600075" cy="28575"/>
          </a:xfrm>
          <a:prstGeom prst="roundRect">
            <a:avLst>
              <a:gd name="adj" fmla="val 66667"/>
            </a:avLst>
          </a:prstGeom>
          <a:solidFill>
            <a:srgbClr val="2D7AB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5072" y="1203722"/>
            <a:ext cx="3907631" cy="2384227"/>
          </a:xfrm>
          <a:prstGeom prst="roundRect">
            <a:avLst>
              <a:gd name="adj" fmla="val 4794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  <a:effectLst>
            <a:outerShdw sx="100000" sy="100000" kx="0" ky="0" algn="bl" rotWithShape="0" blurRad="247650" dist="95250" dir="5400000">
              <a:srgbClr val="142840">
                <a:alpha val="1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8644" y="1207294"/>
            <a:ext cx="3900488" cy="233958"/>
          </a:xfrm>
          <a:prstGeom prst="rect">
            <a:avLst/>
          </a:prstGeom>
          <a:solidFill>
            <a:srgbClr val="EEF3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78644" y="1437680"/>
            <a:ext cx="3900488" cy="0"/>
          </a:xfrm>
          <a:prstGeom prst="line">
            <a:avLst/>
          </a:prstGeom>
          <a:noFill/>
          <a:ln w="7144">
            <a:solidFill>
              <a:srgbClr val="C0D0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4369" y="1288554"/>
            <a:ext cx="64294" cy="64294"/>
          </a:xfrm>
          <a:prstGeom prst="ellipse">
            <a:avLst/>
          </a:prstGeom>
          <a:solidFill>
            <a:srgbClr val="E08A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71525" y="1288554"/>
            <a:ext cx="64294" cy="64294"/>
          </a:xfrm>
          <a:prstGeom prst="ellipse">
            <a:avLst/>
          </a:prstGeom>
          <a:solidFill>
            <a:srgbClr val="E6C5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78681" y="1288554"/>
            <a:ext cx="64294" cy="64294"/>
          </a:xfrm>
          <a:prstGeom prst="ellipse">
            <a:avLst/>
          </a:prstGeom>
          <a:solidFill>
            <a:srgbClr val="8FD0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42988" y="1264444"/>
            <a:ext cx="3350419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23" kern="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/lecturer — marks entry</a:t>
            </a:r>
            <a:endParaRPr lang="en-US" sz="800" dirty="0"/>
          </a:p>
        </p:txBody>
      </p:sp>
      <p:pic>
        <p:nvPicPr>
          <p:cNvPr id="12" name="Image 0" descr="/tmp/h2p-fit-1793264506515-89dvp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644" y="1441252"/>
            <a:ext cx="3900488" cy="214312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75072" y="3709392"/>
            <a:ext cx="3907631" cy="1141214"/>
          </a:xfrm>
          <a:prstGeom prst="roundRect">
            <a:avLst>
              <a:gd name="adj" fmla="val 11685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707231" y="3827264"/>
            <a:ext cx="27146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A4A7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15" name="Text 12"/>
          <p:cNvSpPr/>
          <p:nvPr/>
        </p:nvSpPr>
        <p:spPr>
          <a:xfrm>
            <a:off x="1050131" y="3877270"/>
            <a:ext cx="330041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A4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Lecturer workspace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07231" y="4184452"/>
            <a:ext cx="3643313" cy="638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✓Class rosters, always current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✓Marks entry with Save-draft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✓Publish when checked — drafts stay invisible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661297" y="1203722"/>
            <a:ext cx="3907631" cy="2384227"/>
          </a:xfrm>
          <a:prstGeom prst="roundRect">
            <a:avLst>
              <a:gd name="adj" fmla="val 4794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  <a:effectLst>
            <a:outerShdw sx="100000" sy="100000" kx="0" ky="0" algn="bl" rotWithShape="0" blurRad="247650" dist="95250" dir="5400000">
              <a:srgbClr val="142840">
                <a:alpha val="1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664869" y="1207294"/>
            <a:ext cx="3900488" cy="233958"/>
          </a:xfrm>
          <a:prstGeom prst="rect">
            <a:avLst/>
          </a:prstGeom>
          <a:solidFill>
            <a:srgbClr val="EEF3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4664869" y="1437680"/>
            <a:ext cx="3900488" cy="0"/>
          </a:xfrm>
          <a:prstGeom prst="line">
            <a:avLst/>
          </a:prstGeom>
          <a:noFill/>
          <a:ln w="7144">
            <a:solidFill>
              <a:srgbClr val="C0D0E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50594" y="1288554"/>
            <a:ext cx="64294" cy="64294"/>
          </a:xfrm>
          <a:prstGeom prst="ellipse">
            <a:avLst/>
          </a:prstGeom>
          <a:solidFill>
            <a:srgbClr val="E08A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857750" y="1288554"/>
            <a:ext cx="64294" cy="64294"/>
          </a:xfrm>
          <a:prstGeom prst="ellipse">
            <a:avLst/>
          </a:prstGeom>
          <a:solidFill>
            <a:srgbClr val="E6C5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964906" y="1288554"/>
            <a:ext cx="64294" cy="64294"/>
          </a:xfrm>
          <a:prstGeom prst="ellipse">
            <a:avLst/>
          </a:prstGeom>
          <a:solidFill>
            <a:srgbClr val="8FD0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5129213" y="1264444"/>
            <a:ext cx="3350419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23" kern="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/admin — registrar console</a:t>
            </a:r>
            <a:endParaRPr lang="en-US" sz="800" dirty="0"/>
          </a:p>
        </p:txBody>
      </p:sp>
      <p:pic>
        <p:nvPicPr>
          <p:cNvPr id="24" name="Image 1" descr="/tmp/h2p-fit-1793264506522-n2ui2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4869" y="1441252"/>
            <a:ext cx="3900488" cy="2143125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661297" y="3709392"/>
            <a:ext cx="3907631" cy="1141214"/>
          </a:xfrm>
          <a:prstGeom prst="roundRect">
            <a:avLst>
              <a:gd name="adj" fmla="val 11685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4793456" y="3827264"/>
            <a:ext cx="27146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A4A7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125" dirty="0"/>
          </a:p>
        </p:txBody>
      </p:sp>
      <p:sp>
        <p:nvSpPr>
          <p:cNvPr id="27" name="Text 23"/>
          <p:cNvSpPr/>
          <p:nvPr/>
        </p:nvSpPr>
        <p:spPr>
          <a:xfrm>
            <a:off x="5136356" y="3877270"/>
            <a:ext cx="330041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A4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Admin console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793456" y="4184452"/>
            <a:ext cx="3643313" cy="638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✓Applications → enrolment in one action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✓Students, courses, fees, timetable, news CMS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✓Ministry-ready exports &amp; reports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71475"/>
            <a:ext cx="8572500" cy="1636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281" kern="0" dirty="0">
                <a:solidFill>
                  <a:srgbClr val="2D7AB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PLATFORM TOUR · 5 / 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71500" y="562570"/>
            <a:ext cx="8572500" cy="439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6"/>
              </a:lnSpc>
              <a:buNone/>
            </a:pPr>
            <a:r>
              <a:rPr lang="en-US" sz="2138" b="1" dirty="0">
                <a:solidFill>
                  <a:srgbClr val="1A4A7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Built for every screen — and after dark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571500" y="1069777"/>
            <a:ext cx="600075" cy="28575"/>
          </a:xfrm>
          <a:prstGeom prst="roundRect">
            <a:avLst>
              <a:gd name="adj" fmla="val 66667"/>
            </a:avLst>
          </a:prstGeom>
          <a:solidFill>
            <a:srgbClr val="2D7AB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1200150"/>
            <a:ext cx="1400175" cy="2943225"/>
          </a:xfrm>
          <a:prstGeom prst="roundRect">
            <a:avLst>
              <a:gd name="adj" fmla="val 17687"/>
            </a:avLst>
          </a:prstGeom>
          <a:solidFill>
            <a:srgbClr val="10233C"/>
          </a:solidFill>
          <a:ln/>
          <a:effectLst>
            <a:outerShdw sx="100000" sy="100000" kx="0" ky="0" algn="bl" rotWithShape="0" blurRad="285750" dist="133350" dir="5400000">
              <a:srgbClr val="142840">
                <a:alpha val="2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2938" y="1271588"/>
            <a:ext cx="1257300" cy="280035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tmp/h2p-fit-1793264506927-6t2nd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938" y="1271588"/>
            <a:ext cx="1257300" cy="28003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34169" y="4214813"/>
            <a:ext cx="9375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Homepage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128838" y="1200150"/>
            <a:ext cx="1400175" cy="2943225"/>
          </a:xfrm>
          <a:prstGeom prst="roundRect">
            <a:avLst>
              <a:gd name="adj" fmla="val 17687"/>
            </a:avLst>
          </a:prstGeom>
          <a:solidFill>
            <a:srgbClr val="10233C"/>
          </a:solidFill>
          <a:ln/>
          <a:effectLst>
            <a:outerShdw sx="100000" sy="100000" kx="0" ky="0" algn="bl" rotWithShape="0" blurRad="285750" dist="133350" dir="5400000">
              <a:srgbClr val="142840">
                <a:alpha val="2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2200275" y="1271588"/>
            <a:ext cx="1257300" cy="280035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1" descr="/tmp/h2p-fit-1793264506927-kftna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275" y="1271588"/>
            <a:ext cx="1257300" cy="28003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14154" y="4214813"/>
            <a:ext cx="101485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Student portal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3686175" y="1200150"/>
            <a:ext cx="1400175" cy="2943225"/>
          </a:xfrm>
          <a:prstGeom prst="roundRect">
            <a:avLst>
              <a:gd name="adj" fmla="val 17687"/>
            </a:avLst>
          </a:prstGeom>
          <a:solidFill>
            <a:srgbClr val="10233C"/>
          </a:solidFill>
          <a:ln/>
          <a:effectLst>
            <a:outerShdw sx="100000" sy="100000" kx="0" ky="0" algn="bl" rotWithShape="0" blurRad="285750" dist="133350" dir="5400000">
              <a:srgbClr val="142840">
                <a:alpha val="2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3757613" y="1271588"/>
            <a:ext cx="1257300" cy="280035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2" descr="/tmp/h2p-fit-1793264506927-hilvi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7613" y="1271588"/>
            <a:ext cx="1257300" cy="28003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073947" y="4214813"/>
            <a:ext cx="10124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Fee statement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5318522" y="1203722"/>
            <a:ext cx="3250406" cy="867966"/>
          </a:xfrm>
          <a:prstGeom prst="roundRect">
            <a:avLst>
              <a:gd name="adj" fmla="val 15364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5450681" y="1321594"/>
            <a:ext cx="27146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A4A7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▯</a:t>
            </a:r>
            <a:endParaRPr lang="en-US" sz="1125" dirty="0"/>
          </a:p>
        </p:txBody>
      </p:sp>
      <p:sp>
        <p:nvSpPr>
          <p:cNvPr id="19" name="Text 14"/>
          <p:cNvSpPr/>
          <p:nvPr/>
        </p:nvSpPr>
        <p:spPr>
          <a:xfrm>
            <a:off x="5793581" y="1374279"/>
            <a:ext cx="2643188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1A4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Most students arrive on a phone</a:t>
            </a:r>
            <a:endParaRPr lang="en-US" sz="872" dirty="0"/>
          </a:p>
        </p:txBody>
      </p:sp>
      <p:sp>
        <p:nvSpPr>
          <p:cNvPr id="20" name="Text 15"/>
          <p:cNvSpPr/>
          <p:nvPr/>
        </p:nvSpPr>
        <p:spPr>
          <a:xfrm>
            <a:off x="5450681" y="1664494"/>
            <a:ext cx="2986088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page adapts — one tap to call, WhatsApp or apply. The portal keeps working on modest connections.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5318522" y="2178844"/>
            <a:ext cx="3250406" cy="1841302"/>
          </a:xfrm>
          <a:prstGeom prst="roundRect">
            <a:avLst>
              <a:gd name="adj" fmla="val 6208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  <a:effectLst>
            <a:outerShdw sx="100000" sy="100000" kx="0" ky="0" algn="bl" rotWithShape="0" blurRad="247650" dist="95250" dir="5400000">
              <a:srgbClr val="142840">
                <a:alpha val="1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5322094" y="2182416"/>
            <a:ext cx="3243263" cy="233958"/>
          </a:xfrm>
          <a:prstGeom prst="rect">
            <a:avLst/>
          </a:prstGeom>
          <a:solidFill>
            <a:srgbClr val="EEF3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18"/>
          <p:cNvSpPr/>
          <p:nvPr/>
        </p:nvSpPr>
        <p:spPr>
          <a:xfrm>
            <a:off x="5322094" y="2412802"/>
            <a:ext cx="3243263" cy="0"/>
          </a:xfrm>
          <a:prstGeom prst="line">
            <a:avLst/>
          </a:prstGeom>
          <a:noFill/>
          <a:ln w="7144">
            <a:solidFill>
              <a:srgbClr val="C0D0E2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407819" y="2263676"/>
            <a:ext cx="64294" cy="64294"/>
          </a:xfrm>
          <a:prstGeom prst="ellipse">
            <a:avLst/>
          </a:prstGeom>
          <a:solidFill>
            <a:srgbClr val="E08A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5514975" y="2263676"/>
            <a:ext cx="64294" cy="64294"/>
          </a:xfrm>
          <a:prstGeom prst="ellipse">
            <a:avLst/>
          </a:prstGeom>
          <a:solidFill>
            <a:srgbClr val="E6C5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5622131" y="2263676"/>
            <a:ext cx="64294" cy="64294"/>
          </a:xfrm>
          <a:prstGeom prst="ellipse">
            <a:avLst/>
          </a:prstGeom>
          <a:solidFill>
            <a:srgbClr val="8FD0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5786438" y="2239566"/>
            <a:ext cx="2693194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23" kern="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/admin — dark mode</a:t>
            </a:r>
            <a:endParaRPr lang="en-US" sz="800" dirty="0"/>
          </a:p>
        </p:txBody>
      </p:sp>
      <p:pic>
        <p:nvPicPr>
          <p:cNvPr id="28" name="Image 3" descr="/tmp/h2p-fit-1793264506927-j8saq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2094" y="2416373"/>
            <a:ext cx="3243263" cy="16002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314950" y="4123730"/>
            <a:ext cx="157163" cy="157163"/>
          </a:xfrm>
          <a:prstGeom prst="roundRect">
            <a:avLst>
              <a:gd name="adj" fmla="val 36364"/>
            </a:avLst>
          </a:prstGeom>
          <a:solidFill>
            <a:srgbClr val="E4EC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5329238" y="413801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4A7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5529263" y="4132659"/>
            <a:ext cx="304323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Dark mode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across the site and every portal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57200"/>
            <a:ext cx="8572500" cy="1636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281" kern="0" dirty="0">
                <a:solidFill>
                  <a:srgbClr val="2D7A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FOUNDATION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71500" y="648295"/>
            <a:ext cx="8401050" cy="439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6"/>
              </a:lnSpc>
              <a:buNone/>
            </a:pPr>
            <a:r>
              <a:rPr lang="en-US" sz="2138" b="1" dirty="0">
                <a:solidFill>
                  <a:srgbClr val="1A4A7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Technology and security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571500" y="1155502"/>
            <a:ext cx="600075" cy="28575"/>
          </a:xfrm>
          <a:prstGeom prst="roundRect">
            <a:avLst>
              <a:gd name="adj" fmla="val 66667"/>
            </a:avLst>
          </a:prstGeom>
          <a:solidFill>
            <a:srgbClr val="2D7AB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5072" y="1373386"/>
            <a:ext cx="3914775" cy="2155627"/>
          </a:xfrm>
          <a:prstGeom prst="roundRect">
            <a:avLst>
              <a:gd name="adj" fmla="val 6186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50094" y="1519833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A4A7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1150144" y="1580555"/>
            <a:ext cx="3164681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1A4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Technology stack</a:t>
            </a:r>
            <a:endParaRPr lang="en-US" sz="1013" dirty="0"/>
          </a:p>
        </p:txBody>
      </p:sp>
      <p:sp>
        <p:nvSpPr>
          <p:cNvPr id="8" name="Shape 6"/>
          <p:cNvSpPr/>
          <p:nvPr/>
        </p:nvSpPr>
        <p:spPr>
          <a:xfrm>
            <a:off x="750094" y="2221706"/>
            <a:ext cx="3564731" cy="0"/>
          </a:xfrm>
          <a:prstGeom prst="line">
            <a:avLst/>
          </a:prstGeom>
          <a:noFill/>
          <a:ln w="7144">
            <a:solidFill>
              <a:srgbClr val="C0D0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0094" y="1998464"/>
            <a:ext cx="308978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Framework</a:t>
            </a:r>
            <a:endParaRPr lang="en-US" sz="816" dirty="0"/>
          </a:p>
        </p:txBody>
      </p:sp>
      <p:sp>
        <p:nvSpPr>
          <p:cNvPr id="10" name="Text 8"/>
          <p:cNvSpPr/>
          <p:nvPr/>
        </p:nvSpPr>
        <p:spPr>
          <a:xfrm>
            <a:off x="3749182" y="1998464"/>
            <a:ext cx="670626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5A7A9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Next.js 16</a:t>
            </a:r>
            <a:endParaRPr lang="en-US" sz="816" dirty="0"/>
          </a:p>
        </p:txBody>
      </p:sp>
      <p:sp>
        <p:nvSpPr>
          <p:cNvPr id="11" name="Shape 9"/>
          <p:cNvSpPr/>
          <p:nvPr/>
        </p:nvSpPr>
        <p:spPr>
          <a:xfrm>
            <a:off x="750094" y="2512814"/>
            <a:ext cx="3564731" cy="0"/>
          </a:xfrm>
          <a:prstGeom prst="line">
            <a:avLst/>
          </a:prstGeom>
          <a:noFill/>
          <a:ln w="7144">
            <a:solidFill>
              <a:srgbClr val="C0D0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0094" y="2289572"/>
            <a:ext cx="249696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Language</a:t>
            </a:r>
            <a:endParaRPr lang="en-US" sz="816" dirty="0"/>
          </a:p>
        </p:txBody>
      </p:sp>
      <p:sp>
        <p:nvSpPr>
          <p:cNvPr id="13" name="Text 11"/>
          <p:cNvSpPr/>
          <p:nvPr/>
        </p:nvSpPr>
        <p:spPr>
          <a:xfrm>
            <a:off x="3261345" y="2289572"/>
            <a:ext cx="105348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TypeScript, strict mode</a:t>
            </a:r>
            <a:endParaRPr lang="en-US" sz="816" dirty="0"/>
          </a:p>
        </p:txBody>
      </p:sp>
      <p:sp>
        <p:nvSpPr>
          <p:cNvPr id="14" name="Shape 12"/>
          <p:cNvSpPr/>
          <p:nvPr/>
        </p:nvSpPr>
        <p:spPr>
          <a:xfrm>
            <a:off x="750094" y="2803922"/>
            <a:ext cx="3564731" cy="0"/>
          </a:xfrm>
          <a:prstGeom prst="line">
            <a:avLst/>
          </a:prstGeom>
          <a:noFill/>
          <a:ln w="7144">
            <a:solidFill>
              <a:srgbClr val="C0D0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0094" y="2580680"/>
            <a:ext cx="237864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Interface</a:t>
            </a:r>
            <a:endParaRPr lang="en-US" sz="816" dirty="0"/>
          </a:p>
        </p:txBody>
      </p:sp>
      <p:sp>
        <p:nvSpPr>
          <p:cNvPr id="16" name="Text 14"/>
          <p:cNvSpPr/>
          <p:nvPr/>
        </p:nvSpPr>
        <p:spPr>
          <a:xfrm>
            <a:off x="3143027" y="2580680"/>
            <a:ext cx="117179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Tailwind CSS + shadcn/ui</a:t>
            </a:r>
            <a:endParaRPr lang="en-US" sz="816" dirty="0"/>
          </a:p>
        </p:txBody>
      </p:sp>
      <p:sp>
        <p:nvSpPr>
          <p:cNvPr id="17" name="Shape 15"/>
          <p:cNvSpPr/>
          <p:nvPr/>
        </p:nvSpPr>
        <p:spPr>
          <a:xfrm>
            <a:off x="750094" y="3095030"/>
            <a:ext cx="3564731" cy="0"/>
          </a:xfrm>
          <a:prstGeom prst="line">
            <a:avLst/>
          </a:prstGeom>
          <a:noFill/>
          <a:ln w="7144">
            <a:solidFill>
              <a:srgbClr val="C0D0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0094" y="2871788"/>
            <a:ext cx="149326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Database</a:t>
            </a:r>
            <a:endParaRPr lang="en-US" sz="816" dirty="0"/>
          </a:p>
        </p:txBody>
      </p:sp>
      <p:sp>
        <p:nvSpPr>
          <p:cNvPr id="19" name="Text 17"/>
          <p:cNvSpPr/>
          <p:nvPr/>
        </p:nvSpPr>
        <p:spPr>
          <a:xfrm>
            <a:off x="2257648" y="2871788"/>
            <a:ext cx="216690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PostgreSQL via Prisma Postgres (persistent)</a:t>
            </a:r>
            <a:endParaRPr lang="en-US" sz="816" dirty="0"/>
          </a:p>
        </p:txBody>
      </p:sp>
      <p:sp>
        <p:nvSpPr>
          <p:cNvPr id="20" name="Text 18"/>
          <p:cNvSpPr/>
          <p:nvPr/>
        </p:nvSpPr>
        <p:spPr>
          <a:xfrm>
            <a:off x="750094" y="3162895"/>
            <a:ext cx="2139553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Hosting</a:t>
            </a:r>
            <a:endParaRPr lang="en-US" sz="816" dirty="0"/>
          </a:p>
        </p:txBody>
      </p:sp>
      <p:sp>
        <p:nvSpPr>
          <p:cNvPr id="21" name="Text 19"/>
          <p:cNvSpPr/>
          <p:nvPr/>
        </p:nvSpPr>
        <p:spPr>
          <a:xfrm>
            <a:off x="2903934" y="3162895"/>
            <a:ext cx="1495544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Vercel, continuous deployment</a:t>
            </a:r>
            <a:endParaRPr lang="en-US" sz="816" dirty="0"/>
          </a:p>
        </p:txBody>
      </p:sp>
      <p:sp>
        <p:nvSpPr>
          <p:cNvPr id="22" name="Text 20"/>
          <p:cNvSpPr/>
          <p:nvPr/>
        </p:nvSpPr>
        <p:spPr>
          <a:xfrm>
            <a:off x="4654153" y="1373386"/>
            <a:ext cx="3914775" cy="2155627"/>
          </a:xfrm>
          <a:prstGeom prst="roundRect">
            <a:avLst>
              <a:gd name="adj" fmla="val 6186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29175" y="1519833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A4A7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5229225" y="1580555"/>
            <a:ext cx="3164681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1A4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by design</a:t>
            </a:r>
            <a:endParaRPr lang="en-US" sz="1013" dirty="0"/>
          </a:p>
        </p:txBody>
      </p:sp>
      <p:sp>
        <p:nvSpPr>
          <p:cNvPr id="25" name="Text 23"/>
          <p:cNvSpPr/>
          <p:nvPr/>
        </p:nvSpPr>
        <p:spPr>
          <a:xfrm>
            <a:off x="4829175" y="1934170"/>
            <a:ext cx="3564731" cy="1235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50"/>
              </a:lnSpc>
              <a:spcAft>
                <a:spcPts val="619"/>
              </a:spcAft>
              <a:buSzPct val="100000"/>
              <a:buChar char="•"/>
            </a:pPr>
            <a:r>
              <a:rPr lang="en-US" sz="9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⚿Role-based access control enforced server-side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619"/>
              </a:spcAft>
              <a:buSzPct val="100000"/>
              <a:buChar char="•"/>
            </a:pPr>
            <a:r>
              <a:rPr lang="en-US" sz="9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✦Rate limiting on login, passwords and applications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619"/>
              </a:spcAft>
              <a:buSzPct val="100000"/>
              <a:buChar char="•"/>
            </a:pPr>
            <a:r>
              <a:rPr lang="en-US" sz="9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▤Full audit trail of security events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619"/>
              </a:spcAft>
              <a:buSzPct val="100000"/>
              <a:buChar char="•"/>
            </a:pPr>
            <a:r>
              <a:rPr lang="en-US" sz="9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✦Secure, hardened session cookies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619"/>
              </a:spcAft>
              <a:buSzPct val="100000"/>
              <a:buChar char="•"/>
            </a:pPr>
            <a:r>
              <a:rPr lang="en-US" sz="9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⛨Strict input validation and security headers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71500" y="3699570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336" dirty="0"/>
          </a:p>
        </p:txBody>
      </p:sp>
      <p:sp>
        <p:nvSpPr>
          <p:cNvPr id="27" name="Text 25"/>
          <p:cNvSpPr/>
          <p:nvPr/>
        </p:nvSpPr>
        <p:spPr>
          <a:xfrm>
            <a:off x="778669" y="3689747"/>
            <a:ext cx="7793831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server room, no on-site hardware, no dedicated IT staff required.</a:t>
            </a:r>
            <a:endParaRPr lang="en-US" sz="816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57200"/>
            <a:ext cx="8572500" cy="1636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281" kern="0" dirty="0">
                <a:solidFill>
                  <a:srgbClr val="2D7A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INVESTMENT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71500" y="648295"/>
            <a:ext cx="8572500" cy="439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6"/>
              </a:lnSpc>
              <a:buNone/>
            </a:pPr>
            <a:r>
              <a:rPr lang="en-US" sz="2138" b="1" dirty="0">
                <a:solidFill>
                  <a:srgbClr val="1A4A7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One-off cost to own the platform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571500" y="1155502"/>
            <a:ext cx="600075" cy="28575"/>
          </a:xfrm>
          <a:prstGeom prst="roundRect">
            <a:avLst>
              <a:gd name="adj" fmla="val 66667"/>
            </a:avLst>
          </a:prstGeom>
          <a:solidFill>
            <a:srgbClr val="2D7AB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1384102"/>
            <a:ext cx="4205599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dirty="0">
                <a:solidFill>
                  <a:srgbClr val="1A4A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KES 64,000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571500" y="1889857"/>
            <a:ext cx="3000375" cy="370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Total one-off investment — no licence fees and no per-student charges.</a:t>
            </a:r>
            <a:endParaRPr lang="en-US" sz="872" dirty="0"/>
          </a:p>
        </p:txBody>
      </p:sp>
      <p:sp>
        <p:nvSpPr>
          <p:cNvPr id="7" name="Text 5"/>
          <p:cNvSpPr/>
          <p:nvPr/>
        </p:nvSpPr>
        <p:spPr>
          <a:xfrm>
            <a:off x="575072" y="2350852"/>
            <a:ext cx="1882155" cy="203597"/>
          </a:xfrm>
          <a:prstGeom prst="roundRect">
            <a:avLst>
              <a:gd name="adj" fmla="val 4673681"/>
            </a:avLst>
          </a:prstGeom>
          <a:noFill/>
          <a:ln w="7144">
            <a:solidFill>
              <a:srgbClr val="2D7AB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8656" y="239550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835819" y="2382999"/>
            <a:ext cx="163925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2D7A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source code and data ownership</a:t>
            </a:r>
            <a:endParaRPr lang="en-US" sz="731" dirty="0"/>
          </a:p>
        </p:txBody>
      </p:sp>
      <p:sp>
        <p:nvSpPr>
          <p:cNvPr id="10" name="Text 8"/>
          <p:cNvSpPr/>
          <p:nvPr/>
        </p:nvSpPr>
        <p:spPr>
          <a:xfrm>
            <a:off x="4449217" y="1387673"/>
            <a:ext cx="4119600" cy="1843088"/>
          </a:xfrm>
          <a:prstGeom prst="roundRect">
            <a:avLst>
              <a:gd name="adj" fmla="val 7235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624239" y="1780580"/>
            <a:ext cx="3769556" cy="0"/>
          </a:xfrm>
          <a:prstGeom prst="line">
            <a:avLst/>
          </a:prstGeom>
          <a:noFill/>
          <a:ln w="7144">
            <a:solidFill>
              <a:srgbClr val="C0D0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4239" y="1534120"/>
            <a:ext cx="340567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Design and branding</a:t>
            </a:r>
            <a:endParaRPr lang="en-US" sz="844" dirty="0"/>
          </a:p>
        </p:txBody>
      </p:sp>
      <p:sp>
        <p:nvSpPr>
          <p:cNvPr id="13" name="Text 11"/>
          <p:cNvSpPr/>
          <p:nvPr/>
        </p:nvSpPr>
        <p:spPr>
          <a:xfrm>
            <a:off x="7959592" y="1526977"/>
            <a:ext cx="5188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4284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15,000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24239" y="2116336"/>
            <a:ext cx="3769556" cy="0"/>
          </a:xfrm>
          <a:prstGeom prst="line">
            <a:avLst/>
          </a:prstGeom>
          <a:noFill/>
          <a:ln w="7144">
            <a:solidFill>
              <a:srgbClr val="C0D0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4239" y="1869877"/>
            <a:ext cx="340567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 development</a:t>
            </a:r>
            <a:endParaRPr lang="en-US" sz="844" dirty="0"/>
          </a:p>
        </p:txBody>
      </p:sp>
      <p:sp>
        <p:nvSpPr>
          <p:cNvPr id="16" name="Text 14"/>
          <p:cNvSpPr/>
          <p:nvPr/>
        </p:nvSpPr>
        <p:spPr>
          <a:xfrm>
            <a:off x="7959592" y="1862733"/>
            <a:ext cx="5188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4284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22,000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24239" y="2452092"/>
            <a:ext cx="3769556" cy="0"/>
          </a:xfrm>
          <a:prstGeom prst="line">
            <a:avLst/>
          </a:prstGeom>
          <a:noFill/>
          <a:ln w="7144">
            <a:solidFill>
              <a:srgbClr val="C0D0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24239" y="2205633"/>
            <a:ext cx="3405671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Content, testing and deployment</a:t>
            </a:r>
            <a:endParaRPr lang="en-US" sz="844" dirty="0"/>
          </a:p>
        </p:txBody>
      </p:sp>
      <p:sp>
        <p:nvSpPr>
          <p:cNvPr id="19" name="Text 17"/>
          <p:cNvSpPr/>
          <p:nvPr/>
        </p:nvSpPr>
        <p:spPr>
          <a:xfrm>
            <a:off x="7959592" y="2198489"/>
            <a:ext cx="5188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4284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18,000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24239" y="2787848"/>
            <a:ext cx="3769556" cy="0"/>
          </a:xfrm>
          <a:prstGeom prst="line">
            <a:avLst/>
          </a:prstGeom>
          <a:noFill/>
          <a:ln w="7144">
            <a:solidFill>
              <a:srgbClr val="C0D0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24239" y="2541389"/>
            <a:ext cx="346918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Training and handover</a:t>
            </a:r>
            <a:endParaRPr lang="en-US" sz="844" dirty="0"/>
          </a:p>
        </p:txBody>
      </p:sp>
      <p:sp>
        <p:nvSpPr>
          <p:cNvPr id="22" name="Text 20"/>
          <p:cNvSpPr/>
          <p:nvPr/>
        </p:nvSpPr>
        <p:spPr>
          <a:xfrm>
            <a:off x="8033159" y="2534245"/>
            <a:ext cx="4351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4284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9,000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24239" y="2898577"/>
            <a:ext cx="3061767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A4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Total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592860" y="2884289"/>
            <a:ext cx="908368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2D7AB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KES 64,000</a:t>
            </a:r>
            <a:endParaRPr lang="en-US" sz="1013" dirty="0"/>
          </a:p>
        </p:txBody>
      </p:sp>
      <p:sp>
        <p:nvSpPr>
          <p:cNvPr id="25" name="Text 23"/>
          <p:cNvSpPr/>
          <p:nvPr/>
        </p:nvSpPr>
        <p:spPr>
          <a:xfrm>
            <a:off x="571500" y="341382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5A7A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771525" y="3405783"/>
            <a:ext cx="78009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Fee figures pending verification by the college owner.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57200"/>
            <a:ext cx="8572500" cy="1636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281" kern="0" dirty="0">
                <a:solidFill>
                  <a:srgbClr val="2D7A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AFTER GO-LIVE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71500" y="648295"/>
            <a:ext cx="8572500" cy="439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6"/>
              </a:lnSpc>
              <a:buNone/>
            </a:pPr>
            <a:r>
              <a:rPr lang="en-US" sz="2138" b="1" dirty="0">
                <a:solidFill>
                  <a:srgbClr val="1A4A7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Recurring costs and payment milestones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571500" y="1155502"/>
            <a:ext cx="600075" cy="28575"/>
          </a:xfrm>
          <a:prstGeom prst="roundRect">
            <a:avLst>
              <a:gd name="adj" fmla="val 66667"/>
            </a:avLst>
          </a:prstGeom>
          <a:solidFill>
            <a:srgbClr val="2D7AB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1369814"/>
            <a:ext cx="4118015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1A4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Recurring (per year)</a:t>
            </a:r>
            <a:endParaRPr lang="en-US" sz="956" dirty="0"/>
          </a:p>
        </p:txBody>
      </p:sp>
      <p:sp>
        <p:nvSpPr>
          <p:cNvPr id="6" name="Text 4"/>
          <p:cNvSpPr/>
          <p:nvPr/>
        </p:nvSpPr>
        <p:spPr>
          <a:xfrm>
            <a:off x="575072" y="1641277"/>
            <a:ext cx="3914775" cy="573286"/>
          </a:xfrm>
          <a:prstGeom prst="roundRect">
            <a:avLst>
              <a:gd name="adj" fmla="val 23261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07231" y="1759148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A4A7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1121569" y="1759148"/>
            <a:ext cx="60830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Hosting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18394" y="1759148"/>
            <a:ext cx="138488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2D7AB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KES 10,000 / year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1569" y="1952030"/>
            <a:ext cx="2032245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Vercel, managed PostgreSQL, domain, SSL</a:t>
            </a:r>
            <a:endParaRPr lang="en-US" sz="759" dirty="0"/>
          </a:p>
        </p:txBody>
      </p:sp>
      <p:sp>
        <p:nvSpPr>
          <p:cNvPr id="11" name="Text 9"/>
          <p:cNvSpPr/>
          <p:nvPr/>
        </p:nvSpPr>
        <p:spPr>
          <a:xfrm>
            <a:off x="575072" y="2321719"/>
            <a:ext cx="3914775" cy="573286"/>
          </a:xfrm>
          <a:prstGeom prst="roundRect">
            <a:avLst>
              <a:gd name="adj" fmla="val 23261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07231" y="2439591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A4A7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1121569" y="2439591"/>
            <a:ext cx="157971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Maintenance &amp; support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456780" y="2439591"/>
            <a:ext cx="118360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2D7AB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KES 36,000 / year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1569" y="2632472"/>
            <a:ext cx="2407109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KES 3,000 per month — updates, fixes, support channel</a:t>
            </a:r>
            <a:endParaRPr lang="en-US" sz="759" dirty="0"/>
          </a:p>
        </p:txBody>
      </p:sp>
      <p:sp>
        <p:nvSpPr>
          <p:cNvPr id="16" name="Text 14"/>
          <p:cNvSpPr/>
          <p:nvPr/>
        </p:nvSpPr>
        <p:spPr>
          <a:xfrm>
            <a:off x="575072" y="3016448"/>
            <a:ext cx="1866528" cy="203597"/>
          </a:xfrm>
          <a:prstGeom prst="roundRect">
            <a:avLst>
              <a:gd name="adj" fmla="val 4673681"/>
            </a:avLst>
          </a:prstGeom>
          <a:noFill/>
          <a:ln w="7144">
            <a:solidFill>
              <a:srgbClr val="2D7AB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78656" y="306109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A4A7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835819" y="3048595"/>
            <a:ext cx="1622372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1A4A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Total recurring: KES 46,000 per year</a:t>
            </a:r>
            <a:endParaRPr lang="en-US" sz="731" dirty="0"/>
          </a:p>
        </p:txBody>
      </p:sp>
      <p:sp>
        <p:nvSpPr>
          <p:cNvPr id="19" name="Text 17"/>
          <p:cNvSpPr/>
          <p:nvPr/>
        </p:nvSpPr>
        <p:spPr>
          <a:xfrm>
            <a:off x="4650581" y="1369814"/>
            <a:ext cx="4118015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1A4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Payment milestones</a:t>
            </a:r>
            <a:endParaRPr lang="en-US" sz="956" dirty="0"/>
          </a:p>
        </p:txBody>
      </p:sp>
      <p:sp>
        <p:nvSpPr>
          <p:cNvPr id="20" name="Text 18"/>
          <p:cNvSpPr/>
          <p:nvPr/>
        </p:nvSpPr>
        <p:spPr>
          <a:xfrm>
            <a:off x="4654153" y="1641277"/>
            <a:ext cx="3914775" cy="1626989"/>
          </a:xfrm>
          <a:prstGeom prst="roundRect">
            <a:avLst>
              <a:gd name="adj" fmla="val 8196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814888" y="2193131"/>
            <a:ext cx="3593306" cy="0"/>
          </a:xfrm>
          <a:prstGeom prst="line">
            <a:avLst/>
          </a:prstGeom>
          <a:noFill/>
          <a:ln w="7144">
            <a:solidFill>
              <a:srgbClr val="C0D0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4888" y="1774329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A4A7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3" name="Text 21"/>
          <p:cNvSpPr/>
          <p:nvPr/>
        </p:nvSpPr>
        <p:spPr>
          <a:xfrm>
            <a:off x="5229225" y="1778794"/>
            <a:ext cx="3102674" cy="1386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Sign-off</a:t>
            </a:r>
            <a:endParaRPr lang="en-US" sz="872" dirty="0"/>
          </a:p>
        </p:txBody>
      </p:sp>
      <p:sp>
        <p:nvSpPr>
          <p:cNvPr id="24" name="Text 22"/>
          <p:cNvSpPr/>
          <p:nvPr/>
        </p:nvSpPr>
        <p:spPr>
          <a:xfrm>
            <a:off x="5229225" y="1944886"/>
            <a:ext cx="2617881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5A7A9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Proposal accepted, Phase 1 begins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595417" y="1773436"/>
            <a:ext cx="857903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2D7AB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KES 32,000</a:t>
            </a:r>
            <a:endParaRPr lang="en-US" sz="956" dirty="0"/>
          </a:p>
        </p:txBody>
      </p:sp>
      <p:sp>
        <p:nvSpPr>
          <p:cNvPr id="26" name="Text 24"/>
          <p:cNvSpPr/>
          <p:nvPr/>
        </p:nvSpPr>
        <p:spPr>
          <a:xfrm>
            <a:off x="7360206" y="1955602"/>
            <a:ext cx="1047988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A7A9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50%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814888" y="2716411"/>
            <a:ext cx="3593306" cy="0"/>
          </a:xfrm>
          <a:prstGeom prst="line">
            <a:avLst/>
          </a:prstGeom>
          <a:noFill/>
          <a:ln w="7144">
            <a:solidFill>
              <a:srgbClr val="C0D0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14888" y="2297609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A4A7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9" name="Text 27"/>
          <p:cNvSpPr/>
          <p:nvPr/>
        </p:nvSpPr>
        <p:spPr>
          <a:xfrm>
            <a:off x="5229225" y="2302073"/>
            <a:ext cx="2545162" cy="1386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Staging delivery</a:t>
            </a:r>
            <a:endParaRPr lang="en-US" sz="872" dirty="0"/>
          </a:p>
        </p:txBody>
      </p:sp>
      <p:sp>
        <p:nvSpPr>
          <p:cNvPr id="30" name="Text 28"/>
          <p:cNvSpPr/>
          <p:nvPr/>
        </p:nvSpPr>
        <p:spPr>
          <a:xfrm>
            <a:off x="5229225" y="2468166"/>
            <a:ext cx="2617881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Branded, content-loaded review site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595417" y="2296716"/>
            <a:ext cx="857903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2D7AB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KES 16,000</a:t>
            </a:r>
            <a:endParaRPr lang="en-US" sz="956" dirty="0"/>
          </a:p>
        </p:txBody>
      </p:sp>
      <p:sp>
        <p:nvSpPr>
          <p:cNvPr id="32" name="Text 30"/>
          <p:cNvSpPr/>
          <p:nvPr/>
        </p:nvSpPr>
        <p:spPr>
          <a:xfrm>
            <a:off x="7360206" y="2478881"/>
            <a:ext cx="1047988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A7A9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25%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14888" y="2820888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A4A7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4" name="Text 32"/>
          <p:cNvSpPr/>
          <p:nvPr/>
        </p:nvSpPr>
        <p:spPr>
          <a:xfrm>
            <a:off x="5229225" y="2825353"/>
            <a:ext cx="3102674" cy="1386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Go-live</a:t>
            </a:r>
            <a:endParaRPr lang="en-US" sz="872" dirty="0"/>
          </a:p>
        </p:txBody>
      </p:sp>
      <p:sp>
        <p:nvSpPr>
          <p:cNvPr id="35" name="Text 33"/>
          <p:cNvSpPr/>
          <p:nvPr/>
        </p:nvSpPr>
        <p:spPr>
          <a:xfrm>
            <a:off x="5229225" y="2991445"/>
            <a:ext cx="2617881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Fully operational, staff trained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595417" y="2819995"/>
            <a:ext cx="857903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2D7AB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KES 16,000</a:t>
            </a:r>
            <a:endParaRPr lang="en-US" sz="956" dirty="0"/>
          </a:p>
        </p:txBody>
      </p:sp>
      <p:sp>
        <p:nvSpPr>
          <p:cNvPr id="37" name="Text 35"/>
          <p:cNvSpPr/>
          <p:nvPr/>
        </p:nvSpPr>
        <p:spPr>
          <a:xfrm>
            <a:off x="7360206" y="3002161"/>
            <a:ext cx="1047988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A7A9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25%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28625"/>
            <a:ext cx="8572500" cy="1636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281" kern="0" dirty="0">
                <a:solidFill>
                  <a:srgbClr val="2D7A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71500" y="619720"/>
            <a:ext cx="8572500" cy="439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6"/>
              </a:lnSpc>
              <a:buNone/>
            </a:pPr>
            <a:r>
              <a:rPr lang="en-US" sz="2138" b="1" dirty="0">
                <a:solidFill>
                  <a:srgbClr val="1A4A7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Six phases, six to eight weeks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571500" y="1126927"/>
            <a:ext cx="600075" cy="28575"/>
          </a:xfrm>
          <a:prstGeom prst="roundRect">
            <a:avLst>
              <a:gd name="adj" fmla="val 66667"/>
            </a:avLst>
          </a:prstGeom>
          <a:solidFill>
            <a:srgbClr val="2D7AB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5072" y="1330523"/>
            <a:ext cx="2593181" cy="833140"/>
          </a:xfrm>
          <a:prstGeom prst="roundRect">
            <a:avLst>
              <a:gd name="adj" fmla="val 16006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92944" y="1434108"/>
            <a:ext cx="2428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1A4A7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055" dirty="0"/>
          </a:p>
        </p:txBody>
      </p:sp>
      <p:sp>
        <p:nvSpPr>
          <p:cNvPr id="7" name="Text 5"/>
          <p:cNvSpPr/>
          <p:nvPr/>
        </p:nvSpPr>
        <p:spPr>
          <a:xfrm>
            <a:off x="1007269" y="1462540"/>
            <a:ext cx="434206" cy="186023"/>
          </a:xfrm>
          <a:prstGeom prst="roundRect">
            <a:avLst>
              <a:gd name="adj" fmla="val 5115214"/>
            </a:avLst>
          </a:prstGeom>
          <a:noFill/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07269" y="1472505"/>
            <a:ext cx="43420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5A7A9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Week 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92944" y="1748433"/>
            <a:ext cx="2357438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Discovery &amp; sign-off</a:t>
            </a:r>
            <a:endParaRPr lang="en-US" sz="844" dirty="0"/>
          </a:p>
        </p:txBody>
      </p:sp>
      <p:sp>
        <p:nvSpPr>
          <p:cNvPr id="10" name="Text 8"/>
          <p:cNvSpPr/>
          <p:nvPr/>
        </p:nvSpPr>
        <p:spPr>
          <a:xfrm>
            <a:off x="692944" y="1930598"/>
            <a:ext cx="2357438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3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Confirm programmes, fees, branding; first milestone</a:t>
            </a:r>
            <a:endParaRPr lang="en-US" sz="703" dirty="0"/>
          </a:p>
        </p:txBody>
      </p:sp>
      <p:sp>
        <p:nvSpPr>
          <p:cNvPr id="11" name="Text 9"/>
          <p:cNvSpPr/>
          <p:nvPr/>
        </p:nvSpPr>
        <p:spPr>
          <a:xfrm>
            <a:off x="3275409" y="1330523"/>
            <a:ext cx="2593181" cy="833140"/>
          </a:xfrm>
          <a:prstGeom prst="roundRect">
            <a:avLst>
              <a:gd name="adj" fmla="val 16006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393281" y="1434108"/>
            <a:ext cx="2428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1A4A7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055" dirty="0"/>
          </a:p>
        </p:txBody>
      </p:sp>
      <p:sp>
        <p:nvSpPr>
          <p:cNvPr id="13" name="Text 11"/>
          <p:cNvSpPr/>
          <p:nvPr/>
        </p:nvSpPr>
        <p:spPr>
          <a:xfrm>
            <a:off x="3707606" y="1462540"/>
            <a:ext cx="566700" cy="186023"/>
          </a:xfrm>
          <a:prstGeom prst="roundRect">
            <a:avLst>
              <a:gd name="adj" fmla="val 5115214"/>
            </a:avLst>
          </a:prstGeom>
          <a:noFill/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693238" y="1472505"/>
            <a:ext cx="59543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5A7A9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Weeks 1–2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93281" y="1748433"/>
            <a:ext cx="2357438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Branding &amp; design</a:t>
            </a:r>
            <a:endParaRPr lang="en-US" sz="844" dirty="0"/>
          </a:p>
        </p:txBody>
      </p:sp>
      <p:sp>
        <p:nvSpPr>
          <p:cNvPr id="16" name="Text 14"/>
          <p:cNvSpPr/>
          <p:nvPr/>
        </p:nvSpPr>
        <p:spPr>
          <a:xfrm>
            <a:off x="3393281" y="1930598"/>
            <a:ext cx="2467166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KIP identity across site and portals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975747" y="1330523"/>
            <a:ext cx="2593181" cy="833140"/>
          </a:xfrm>
          <a:prstGeom prst="roundRect">
            <a:avLst>
              <a:gd name="adj" fmla="val 16006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093619" y="1434108"/>
            <a:ext cx="2428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1A4A7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055" dirty="0"/>
          </a:p>
        </p:txBody>
      </p:sp>
      <p:sp>
        <p:nvSpPr>
          <p:cNvPr id="19" name="Text 17"/>
          <p:cNvSpPr/>
          <p:nvPr/>
        </p:nvSpPr>
        <p:spPr>
          <a:xfrm>
            <a:off x="6407944" y="1462540"/>
            <a:ext cx="566700" cy="186023"/>
          </a:xfrm>
          <a:prstGeom prst="roundRect">
            <a:avLst>
              <a:gd name="adj" fmla="val 5115214"/>
            </a:avLst>
          </a:prstGeom>
          <a:noFill/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93575" y="1472505"/>
            <a:ext cx="59543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5A7A9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Weeks 2–4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093619" y="1748433"/>
            <a:ext cx="2357438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Configuration &amp; data</a:t>
            </a:r>
            <a:endParaRPr lang="en-US" sz="844" dirty="0"/>
          </a:p>
        </p:txBody>
      </p:sp>
      <p:sp>
        <p:nvSpPr>
          <p:cNvPr id="22" name="Text 20"/>
          <p:cNvSpPr/>
          <p:nvPr/>
        </p:nvSpPr>
        <p:spPr>
          <a:xfrm>
            <a:off x="6093619" y="1930598"/>
            <a:ext cx="2467165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3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 programmes, staff accounts, fee structures</a:t>
            </a:r>
            <a:endParaRPr lang="en-US" sz="703" dirty="0"/>
          </a:p>
        </p:txBody>
      </p:sp>
      <p:sp>
        <p:nvSpPr>
          <p:cNvPr id="23" name="Text 21"/>
          <p:cNvSpPr/>
          <p:nvPr/>
        </p:nvSpPr>
        <p:spPr>
          <a:xfrm>
            <a:off x="575072" y="2270820"/>
            <a:ext cx="2593181" cy="833140"/>
          </a:xfrm>
          <a:prstGeom prst="roundRect">
            <a:avLst>
              <a:gd name="adj" fmla="val 16006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92944" y="2374404"/>
            <a:ext cx="2428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1A4A7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055" dirty="0"/>
          </a:p>
        </p:txBody>
      </p:sp>
      <p:sp>
        <p:nvSpPr>
          <p:cNvPr id="25" name="Text 23"/>
          <p:cNvSpPr/>
          <p:nvPr/>
        </p:nvSpPr>
        <p:spPr>
          <a:xfrm>
            <a:off x="1007269" y="2402836"/>
            <a:ext cx="566700" cy="186023"/>
          </a:xfrm>
          <a:prstGeom prst="roundRect">
            <a:avLst>
              <a:gd name="adj" fmla="val 5115214"/>
            </a:avLst>
          </a:prstGeom>
          <a:noFill/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92900" y="2412802"/>
            <a:ext cx="59543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5A7A9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Weeks 5–6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92944" y="2688729"/>
            <a:ext cx="2467166" cy="154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Content, testing, staging</a:t>
            </a:r>
            <a:endParaRPr lang="en-US" sz="844" dirty="0"/>
          </a:p>
        </p:txBody>
      </p:sp>
      <p:sp>
        <p:nvSpPr>
          <p:cNvPr id="28" name="Text 26"/>
          <p:cNvSpPr/>
          <p:nvPr/>
        </p:nvSpPr>
        <p:spPr>
          <a:xfrm>
            <a:off x="692944" y="2870895"/>
            <a:ext cx="2467166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3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End-to-end tests, review site; second milestone</a:t>
            </a:r>
            <a:endParaRPr lang="en-US" sz="703" dirty="0"/>
          </a:p>
        </p:txBody>
      </p:sp>
      <p:sp>
        <p:nvSpPr>
          <p:cNvPr id="29" name="Text 27"/>
          <p:cNvSpPr/>
          <p:nvPr/>
        </p:nvSpPr>
        <p:spPr>
          <a:xfrm>
            <a:off x="3275409" y="2270820"/>
            <a:ext cx="2593181" cy="833140"/>
          </a:xfrm>
          <a:prstGeom prst="roundRect">
            <a:avLst>
              <a:gd name="adj" fmla="val 16006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393281" y="2374404"/>
            <a:ext cx="2428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1A4A7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055" dirty="0"/>
          </a:p>
        </p:txBody>
      </p:sp>
      <p:sp>
        <p:nvSpPr>
          <p:cNvPr id="31" name="Text 29"/>
          <p:cNvSpPr/>
          <p:nvPr/>
        </p:nvSpPr>
        <p:spPr>
          <a:xfrm>
            <a:off x="3707606" y="2402836"/>
            <a:ext cx="434206" cy="186023"/>
          </a:xfrm>
          <a:prstGeom prst="roundRect">
            <a:avLst>
              <a:gd name="adj" fmla="val 5115214"/>
            </a:avLst>
          </a:prstGeom>
          <a:noFill/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707606" y="2412802"/>
            <a:ext cx="43420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5A7A9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Week 7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393281" y="2688729"/>
            <a:ext cx="2357438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Training &amp; handover</a:t>
            </a:r>
            <a:endParaRPr lang="en-US" sz="844" dirty="0"/>
          </a:p>
        </p:txBody>
      </p:sp>
      <p:sp>
        <p:nvSpPr>
          <p:cNvPr id="34" name="Text 32"/>
          <p:cNvSpPr/>
          <p:nvPr/>
        </p:nvSpPr>
        <p:spPr>
          <a:xfrm>
            <a:off x="3393281" y="2870895"/>
            <a:ext cx="2467166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Staff training, documentation, credentials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975747" y="2270820"/>
            <a:ext cx="2593181" cy="833140"/>
          </a:xfrm>
          <a:prstGeom prst="roundRect">
            <a:avLst>
              <a:gd name="adj" fmla="val 16006"/>
            </a:avLst>
          </a:prstGeom>
          <a:solidFill>
            <a:srgbClr val="FFFFFF"/>
          </a:solidFill>
          <a:ln w="7144">
            <a:solidFill>
              <a:srgbClr val="2D7AB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093619" y="2374404"/>
            <a:ext cx="2428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1A4A7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055" dirty="0"/>
          </a:p>
        </p:txBody>
      </p:sp>
      <p:sp>
        <p:nvSpPr>
          <p:cNvPr id="37" name="Text 35"/>
          <p:cNvSpPr/>
          <p:nvPr/>
        </p:nvSpPr>
        <p:spPr>
          <a:xfrm>
            <a:off x="6407944" y="2402836"/>
            <a:ext cx="434206" cy="186023"/>
          </a:xfrm>
          <a:prstGeom prst="roundRect">
            <a:avLst>
              <a:gd name="adj" fmla="val 5115214"/>
            </a:avLst>
          </a:prstGeom>
          <a:noFill/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407944" y="2412802"/>
            <a:ext cx="43420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5A7A9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Week 8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093619" y="2688729"/>
            <a:ext cx="2357438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Go-live &amp; support</a:t>
            </a:r>
            <a:endParaRPr lang="en-US" sz="844" dirty="0"/>
          </a:p>
        </p:txBody>
      </p:sp>
      <p:sp>
        <p:nvSpPr>
          <p:cNvPr id="40" name="Text 38"/>
          <p:cNvSpPr/>
          <p:nvPr/>
        </p:nvSpPr>
        <p:spPr>
          <a:xfrm>
            <a:off x="6093619" y="2870895"/>
            <a:ext cx="2467165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3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domain, monitoring; final milestone</a:t>
            </a:r>
            <a:endParaRPr lang="en-US" sz="703" dirty="0"/>
          </a:p>
        </p:txBody>
      </p:sp>
      <p:sp>
        <p:nvSpPr>
          <p:cNvPr id="41" name="Text 39"/>
          <p:cNvSpPr/>
          <p:nvPr/>
        </p:nvSpPr>
        <p:spPr>
          <a:xfrm>
            <a:off x="571500" y="3250406"/>
            <a:ext cx="8001000" cy="364331"/>
          </a:xfrm>
          <a:prstGeom prst="roundRect">
            <a:avLst>
              <a:gd name="adj" fmla="val 36601"/>
            </a:avLst>
          </a:prstGeom>
          <a:solidFill>
            <a:srgbClr val="E4EC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571500" y="3253978"/>
            <a:ext cx="8001000" cy="0"/>
          </a:xfrm>
          <a:prstGeom prst="line">
            <a:avLst/>
          </a:prstGeom>
          <a:noFill/>
          <a:ln w="7144">
            <a:solidFill>
              <a:srgbClr val="C0D0E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68928" y="3250406"/>
            <a:ext cx="0" cy="364331"/>
          </a:xfrm>
          <a:prstGeom prst="line">
            <a:avLst/>
          </a:prstGeom>
          <a:noFill/>
          <a:ln w="7144">
            <a:solidFill>
              <a:srgbClr val="C0D0E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71500" y="3611166"/>
            <a:ext cx="8001000" cy="0"/>
          </a:xfrm>
          <a:prstGeom prst="line">
            <a:avLst/>
          </a:prstGeom>
          <a:noFill/>
          <a:ln w="7144">
            <a:solidFill>
              <a:srgbClr val="C0D0E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85788" y="3250406"/>
            <a:ext cx="0" cy="364331"/>
          </a:xfrm>
          <a:prstGeom prst="line">
            <a:avLst/>
          </a:prstGeom>
          <a:noFill/>
          <a:ln w="28575">
            <a:solidFill>
              <a:srgbClr val="2D7AB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2950" y="337542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A4A7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125" dirty="0"/>
          </a:p>
        </p:txBody>
      </p:sp>
      <p:sp>
        <p:nvSpPr>
          <p:cNvPr id="47" name="Text 45"/>
          <p:cNvSpPr/>
          <p:nvPr/>
        </p:nvSpPr>
        <p:spPr>
          <a:xfrm>
            <a:off x="942975" y="3357563"/>
            <a:ext cx="747950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platform already exists — delivery is branding, content, verification and training, not risky software construction.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57200"/>
            <a:ext cx="8572500" cy="1636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281" kern="0" dirty="0">
                <a:solidFill>
                  <a:srgbClr val="2D7A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DECISION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71500" y="648295"/>
            <a:ext cx="8572500" cy="439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6"/>
              </a:lnSpc>
              <a:buNone/>
            </a:pPr>
            <a:r>
              <a:rPr lang="en-US" sz="2138" b="1" dirty="0">
                <a:solidFill>
                  <a:srgbClr val="1A4A7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Why this platform, and what happens next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571500" y="1155502"/>
            <a:ext cx="600075" cy="28575"/>
          </a:xfrm>
          <a:prstGeom prst="roundRect">
            <a:avLst>
              <a:gd name="adj" fmla="val 66667"/>
            </a:avLst>
          </a:prstGeom>
          <a:solidFill>
            <a:srgbClr val="2D7AB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5072" y="1373386"/>
            <a:ext cx="3914775" cy="1971675"/>
          </a:xfrm>
          <a:prstGeom prst="roundRect">
            <a:avLst>
              <a:gd name="adj" fmla="val 6763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50094" y="1519833"/>
            <a:ext cx="3564731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1A4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</a:t>
            </a:r>
            <a:endParaRPr lang="en-US" sz="1013" dirty="0"/>
          </a:p>
        </p:txBody>
      </p:sp>
      <p:sp>
        <p:nvSpPr>
          <p:cNvPr id="7" name="Text 5"/>
          <p:cNvSpPr/>
          <p:nvPr/>
        </p:nvSpPr>
        <p:spPr>
          <a:xfrm>
            <a:off x="750094" y="1812727"/>
            <a:ext cx="3564731" cy="1069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50"/>
              </a:lnSpc>
              <a:spcAft>
                <a:spcPts val="731"/>
              </a:spcAft>
              <a:buSzPct val="100000"/>
              <a:buChar char="•"/>
            </a:pPr>
            <a:r>
              <a:rPr lang="en-US" sz="9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◉Already live — evaluate the real thing before paying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731"/>
              </a:spcAft>
              <a:buSzPct val="100000"/>
              <a:buChar char="•"/>
            </a:pPr>
            <a:r>
              <a:rPr lang="en-US" sz="9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$One-off KES 64,000 — no licences, no per-student fees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731"/>
              </a:spcAft>
              <a:buSzPct val="100000"/>
              <a:buChar char="•"/>
            </a:pPr>
            <a:r>
              <a:rPr lang="en-US" sz="9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✦Modern maintainable stack any developer can take over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731"/>
              </a:spcAft>
              <a:buSzPct val="100000"/>
              <a:buChar char="•"/>
            </a:pPr>
            <a:r>
              <a:rPr lang="en-US" sz="9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⛨Secure by design — RBAC, rate limits, audit trail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54153" y="1373386"/>
            <a:ext cx="3914775" cy="1971675"/>
          </a:xfrm>
          <a:prstGeom prst="roundRect">
            <a:avLst>
              <a:gd name="adj" fmla="val 6763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29175" y="1519833"/>
            <a:ext cx="3564731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1A4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Next steps</a:t>
            </a:r>
            <a:endParaRPr lang="en-US" sz="1013" dirty="0"/>
          </a:p>
        </p:txBody>
      </p:sp>
      <p:sp>
        <p:nvSpPr>
          <p:cNvPr id="10" name="Text 8"/>
          <p:cNvSpPr/>
          <p:nvPr/>
        </p:nvSpPr>
        <p:spPr>
          <a:xfrm>
            <a:off x="4829175" y="1812727"/>
            <a:ext cx="3564731" cy="1547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50"/>
              </a:lnSpc>
              <a:spcAft>
                <a:spcPts val="619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1Review the live demo with senior staff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619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2Verify contacts, fee figures and programme list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619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3Sign off and pay the first milestone (KES 32,000)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619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4Supply branding assets and nominate staff for training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619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5Approve staging and schedule go-live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0" y="1143000"/>
            <a:ext cx="4000500" cy="4000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0" y="1143000"/>
            <a:ext cx="4000500" cy="4000500"/>
          </a:xfrm>
          <a:prstGeom prst="ellipse">
            <a:avLst/>
          </a:prstGeom>
          <a:solidFill>
            <a:srgbClr val="2D7AB3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21469" y="250031"/>
            <a:ext cx="8501063" cy="4643438"/>
          </a:xfrm>
          <a:prstGeom prst="roundRect">
            <a:avLst>
              <a:gd name="adj" fmla="val 821"/>
            </a:avLst>
          </a:prstGeom>
          <a:noFill/>
          <a:ln w="14288">
            <a:solidFill>
              <a:srgbClr val="4DA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718833" y="906252"/>
            <a:ext cx="37063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spc="281" kern="0" dirty="0">
                <a:solidFill>
                  <a:srgbClr val="4DA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KITUI INSTITUTE OF PROFESSIONALS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274320" y="1174142"/>
            <a:ext cx="8595360" cy="67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894"/>
              </a:lnSpc>
              <a:buNone/>
            </a:pPr>
            <a:r>
              <a:rPr lang="en-US" sz="3263" b="1" dirty="0">
                <a:solidFill>
                  <a:srgbClr val="E8F0F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Thank you.</a:t>
            </a:r>
            <a:endParaRPr lang="en-US" sz="3263" dirty="0"/>
          </a:p>
        </p:txBody>
      </p:sp>
      <p:sp>
        <p:nvSpPr>
          <p:cNvPr id="7" name="Text 4"/>
          <p:cNvSpPr/>
          <p:nvPr/>
        </p:nvSpPr>
        <p:spPr>
          <a:xfrm>
            <a:off x="4271963" y="1981386"/>
            <a:ext cx="600075" cy="28575"/>
          </a:xfrm>
          <a:prstGeom prst="roundRect">
            <a:avLst>
              <a:gd name="adj" fmla="val 66667"/>
            </a:avLst>
          </a:prstGeom>
          <a:solidFill>
            <a:srgbClr val="4DA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286000" y="2181411"/>
            <a:ext cx="4572000" cy="468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069" dirty="0">
                <a:solidFill>
                  <a:srgbClr val="7A9B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Integrated College Management System — public website, admissions, portals, admin console and AI study assistant.</a:t>
            </a:r>
            <a:endParaRPr lang="en-US" sz="1069" dirty="0"/>
          </a:p>
        </p:txBody>
      </p:sp>
      <p:sp>
        <p:nvSpPr>
          <p:cNvPr id="9" name="Text 6"/>
          <p:cNvSpPr/>
          <p:nvPr/>
        </p:nvSpPr>
        <p:spPr>
          <a:xfrm>
            <a:off x="2718197" y="2862076"/>
            <a:ext cx="3707606" cy="1023342"/>
          </a:xfrm>
          <a:prstGeom prst="roundRect">
            <a:avLst>
              <a:gd name="adj" fmla="val 13031"/>
            </a:avLst>
          </a:prstGeom>
          <a:solidFill>
            <a:srgbClr val="4DA8DA">
              <a:alpha val="8000"/>
            </a:srgbClr>
          </a:solidFill>
          <a:ln w="7144">
            <a:solidFill>
              <a:srgbClr val="4DA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965451" y="303977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4DA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✉</a:t>
            </a:r>
            <a:endParaRPr lang="en-US" sz="1406" dirty="0"/>
          </a:p>
        </p:txBody>
      </p:sp>
      <p:sp>
        <p:nvSpPr>
          <p:cNvPr id="11" name="Text 8"/>
          <p:cNvSpPr/>
          <p:nvPr/>
        </p:nvSpPr>
        <p:spPr>
          <a:xfrm>
            <a:off x="4071003" y="3022811"/>
            <a:ext cx="1230483" cy="19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92"/>
              </a:lnSpc>
              <a:buNone/>
            </a:pPr>
            <a:r>
              <a:rPr lang="en-US" sz="928" dirty="0">
                <a:solidFill>
                  <a:srgbClr val="E8F0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info@kipskitui.com</a:t>
            </a:r>
            <a:endParaRPr lang="en-US" sz="928" dirty="0"/>
          </a:p>
        </p:txBody>
      </p:sp>
      <p:sp>
        <p:nvSpPr>
          <p:cNvPr id="12" name="Text 9"/>
          <p:cNvSpPr/>
          <p:nvPr/>
        </p:nvSpPr>
        <p:spPr>
          <a:xfrm>
            <a:off x="3447083" y="330231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4DA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☎</a:t>
            </a:r>
            <a:endParaRPr lang="en-US" sz="1406" dirty="0"/>
          </a:p>
        </p:txBody>
      </p:sp>
      <p:sp>
        <p:nvSpPr>
          <p:cNvPr id="13" name="Text 10"/>
          <p:cNvSpPr/>
          <p:nvPr/>
        </p:nvSpPr>
        <p:spPr>
          <a:xfrm>
            <a:off x="3594838" y="3285344"/>
            <a:ext cx="2182813" cy="19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92"/>
              </a:lnSpc>
              <a:buNone/>
            </a:pPr>
            <a:r>
              <a:rPr lang="en-US" sz="928" dirty="0">
                <a:solidFill>
                  <a:srgbClr val="E8F0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+254 703 710 879 </a:t>
            </a:r>
            <a:pPr algn="ctr" indent="0" marL="0">
              <a:lnSpc>
                <a:spcPts val="1392"/>
              </a:lnSpc>
              <a:buNone/>
            </a:pPr>
            <a:r>
              <a:rPr lang="en-US" sz="800" dirty="0">
                <a:solidFill>
                  <a:srgbClr val="7A9B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(to be verified by owner)</a:t>
            </a:r>
            <a:endParaRPr lang="en-US" sz="928" dirty="0"/>
          </a:p>
        </p:txBody>
      </p:sp>
      <p:sp>
        <p:nvSpPr>
          <p:cNvPr id="14" name="Text 11"/>
          <p:cNvSpPr/>
          <p:nvPr/>
        </p:nvSpPr>
        <p:spPr>
          <a:xfrm>
            <a:off x="3422638" y="356484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4DA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406" dirty="0"/>
          </a:p>
        </p:txBody>
      </p:sp>
      <p:sp>
        <p:nvSpPr>
          <p:cNvPr id="15" name="Text 12"/>
          <p:cNvSpPr/>
          <p:nvPr/>
        </p:nvSpPr>
        <p:spPr>
          <a:xfrm>
            <a:off x="3568437" y="3547876"/>
            <a:ext cx="2235614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92"/>
              </a:lnSpc>
              <a:buNone/>
            </a:pPr>
            <a:r>
              <a:rPr lang="en-US" sz="928" b="1" dirty="0">
                <a:solidFill>
                  <a:srgbClr val="4DA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https://kip-college-system.vercel.app</a:t>
            </a:r>
            <a:endParaRPr lang="en-US" sz="928" dirty="0"/>
          </a:p>
        </p:txBody>
      </p:sp>
      <p:sp>
        <p:nvSpPr>
          <p:cNvPr id="16" name="Text 13"/>
          <p:cNvSpPr/>
          <p:nvPr/>
        </p:nvSpPr>
        <p:spPr>
          <a:xfrm>
            <a:off x="2837966" y="4103303"/>
            <a:ext cx="34679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703" spc="56" kern="0" dirty="0">
                <a:solidFill>
                  <a:srgbClr val="7A9B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October 2026 · Phone numbers and fee figures pending owner verification.</a:t>
            </a:r>
            <a:endParaRPr lang="en-US" sz="70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2026-10-29T09:01:48Z</dcterms:created>
  <dcterms:modified xsi:type="dcterms:W3CDTF">2026-10-29T09:01:48Z</dcterms:modified>
</cp:coreProperties>
</file>